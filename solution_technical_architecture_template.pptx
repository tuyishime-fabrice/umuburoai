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201168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0284C7"/>
                </a:solidFill>
                <a:latin typeface="Verdana"/>
              </a:defRPr>
            </a:pPr>
            <a:r>
              <a:t>ANNEX D - SOLUTION &amp; TECHNICAL ARCHITECTURE CANVAS</a:t>
            </a:r>
          </a:p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t>Day 2 Solution Feasibility &amp; Prototype Architecture Template</a:t>
            </a:r>
          </a:p>
          <a:p>
            <a:pPr>
              <a:defRPr sz="1200">
                <a:solidFill>
                  <a:srgbClr val="E2E8F0"/>
                </a:solidFill>
                <a:latin typeface="Verdana"/>
              </a:defRPr>
            </a:pPr>
            <a:r>
              <a:t>Translate the validated problem into the simplest feasible solution architecture and define what will actually be built during the hackathon.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017520"/>
            <a:ext cx="10728655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400" b="1">
                <a:solidFill>
                  <a:srgbClr val="0F4C81"/>
                </a:solidFill>
                <a:latin typeface="Verdana"/>
              </a:defRPr>
            </a:pPr>
            <a:r>
              <a:t>PARTICIPANT &amp; CHALLENGE METADATA (To be completed on Day 2)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E293B"/>
                </a:solidFill>
                <a:latin typeface="Verdana"/>
              </a:rPr>
              <a:t>Team Name / ID:                </a:t>
            </a:r>
            <a:r>
              <a:rPr sz="1200">
                <a:solidFill>
                  <a:srgbClr val="64748B"/>
                </a:solidFill>
                <a:latin typeface="Verdana"/>
              </a:rPr>
              <a:t>[ Enter Team Name or Allocated ID Number ]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E293B"/>
                </a:solidFill>
                <a:latin typeface="Verdana"/>
              </a:rPr>
              <a:t>Challenge Title:               </a:t>
            </a:r>
            <a:r>
              <a:rPr sz="1200">
                <a:solidFill>
                  <a:srgbClr val="64748B"/>
                </a:solidFill>
                <a:latin typeface="Verdana"/>
              </a:rPr>
              <a:t>[ Enter Specific Challenge Title Being Addressed ]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E293B"/>
                </a:solidFill>
                <a:latin typeface="Verdana"/>
              </a:rPr>
              <a:t>Challenge-Owning Institution:  </a:t>
            </a:r>
            <a:r>
              <a:rPr sz="1200">
                <a:solidFill>
                  <a:srgbClr val="64748B"/>
                </a:solidFill>
                <a:latin typeface="Verdana"/>
              </a:rPr>
              <a:t>[ Enter Government / Public Institution Name ]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E293B"/>
                </a:solidFill>
                <a:latin typeface="Verdana"/>
              </a:rPr>
              <a:t>Technical Mentor / Trainer:    </a:t>
            </a:r>
            <a:r>
              <a:rPr sz="1200">
                <a:solidFill>
                  <a:srgbClr val="64748B"/>
                </a:solidFill>
                <a:latin typeface="Verdana"/>
              </a:rPr>
              <a:t>[ Enter Assigned Mentor Name / Technical Focal Person ]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E293B"/>
                </a:solidFill>
                <a:latin typeface="Verdana"/>
              </a:rPr>
              <a:t>Date &amp; Hackathon Stage:        </a:t>
            </a:r>
            <a:r>
              <a:rPr sz="1200">
                <a:solidFill>
                  <a:srgbClr val="64748B"/>
                </a:solidFill>
                <a:latin typeface="Verdana"/>
              </a:rPr>
              <a:t>[ Enter Date | Day 2 Feasibility Clinic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ANNEX D - SOLUTION &amp; TECHNICAL ARCHITECTURE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D1. Solution Choice, AI Justification &amp; Scope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25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36576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Verdana"/>
              </a:defRPr>
            </a:pPr>
            <a:r>
              <a:t>PROPOSED SOLUTION IN ONE SENTENCE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54335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t>[ Summarize the core solution concept concisely: What does it build, for whom, and what primary capability does it deliver?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338328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3383280" cy="36576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Verdana"/>
              </a:defRPr>
            </a:pPr>
            <a:r>
              <a:t>AI/ML ROLE &amp; JUSTIFICATION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3108960" cy="32918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t>• What AI/ML does exactly:</a:t>
            </a:r>
            <a:br/>
            <a:r>
              <a:t>  [ e.g., NLP extraction, rule-based classification, predictive scoring ]</a:t>
            </a:r>
            <a:br/>
            <a:br/>
            <a:r>
              <a:t>• Why AI is appropriate:</a:t>
            </a:r>
            <a:br/>
            <a:r>
              <a:t>  [ Evidence/rationale supporting why AI improves speed, scale, or accuracy over manual processes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651760"/>
            <a:ext cx="338328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2651760"/>
            <a:ext cx="3383280" cy="36576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Verdana"/>
              </a:defRPr>
            </a:pPr>
            <a:r>
              <a:t>NON-AI ALTERNATIVE CONSIDERED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063240"/>
            <a:ext cx="3108960" cy="32918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t>• Simpler non-AI alternative:</a:t>
            </a:r>
            <a:br/>
            <a:r>
              <a:t>  [ Describe a simpler rule-based, spreadsheet, or workflow alternative evaluated ]</a:t>
            </a:r>
            <a:br/>
            <a:br/>
            <a:r>
              <a:t>• Reason not selected:</a:t>
            </a:r>
            <a:br/>
            <a:r>
              <a:t>  [ Why was the non-AI route insufficient for the user's core pain point? 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651760"/>
            <a:ext cx="338328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2651760"/>
            <a:ext cx="3383280" cy="365760"/>
          </a:xfrm>
          <a:prstGeom prst="roundRect">
            <a:avLst/>
          </a:prstGeom>
          <a:solidFill>
            <a:srgbClr val="94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Verdana"/>
              </a:defRPr>
            </a:pPr>
            <a:r>
              <a:t>EXPLICITLY OUT OF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3063240"/>
            <a:ext cx="3108960" cy="32918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t>• Hackathon Out-of-Scope Items:</a:t>
            </a:r>
            <a:br/>
            <a:r>
              <a:t>  [ List features, integrations, or data processing steps explicitly excluded from the hackathon build ]</a:t>
            </a:r>
            <a:br/>
            <a:br/>
            <a:r>
              <a:t>  - Item 1: [ e.g., Full legacy system integration ]</a:t>
            </a:r>
            <a:br/>
            <a:r>
              <a:t>  - Item 2: [ e.g., Mobile app native build ]</a:t>
            </a:r>
            <a:br/>
            <a:r>
              <a:t>  - Item 3: [ e.g., Real-time biometric auth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ANNEX D - SOLUTION &amp; TECHNICAL ARCHITECTURE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D1. Primary User Journey &amp; Hackathon Prototype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25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36576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Verdana"/>
              </a:defRPr>
            </a:pPr>
            <a:r>
              <a:t>PRIMARY USER JOURNEY (START TO OUTCOME)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93776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t>Step 1: Trigger / User Entry</a:t>
            </a:r>
            <a:br/>
            <a:r>
              <a:t>[ How does the primary user initiate interaction with the solution? ]</a:t>
            </a:r>
            <a:br/>
            <a:br/>
            <a:r>
              <a:t>Step 2: Core Interaction &amp; Processing</a:t>
            </a:r>
            <a:br/>
            <a:r>
              <a:t>[ What actions does the user take, and how does the system process their input? ]</a:t>
            </a:r>
            <a:br/>
            <a:br/>
            <a:r>
              <a:t>Step 3: AI / Logic Output</a:t>
            </a:r>
            <a:br/>
            <a:r>
              <a:t>[ What recommendations, automated outputs, or insights are displayed to the user? ]</a:t>
            </a:r>
            <a:br/>
            <a:br/>
            <a:r>
              <a:t>Step 4: Operational Action &amp; Outcome</a:t>
            </a:r>
            <a:br/>
            <a:r>
              <a:t>[ What final decision or operational task is completed as a result?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4225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36576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Verdana"/>
              </a:defRPr>
            </a:pPr>
            <a:r>
              <a:t>MAIN FEATURES REQUIRED FOR HACKATHON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4967935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t>• Feature 1 (Must-Have Input/UI):</a:t>
            </a:r>
            <a:br/>
            <a:r>
              <a:t>  [ Key input interface or dashboard feature needed for the demo ]</a:t>
            </a:r>
            <a:br/>
            <a:br/>
            <a:r>
              <a:t>• Feature 2 (Core Processing/Intelligence):</a:t>
            </a:r>
            <a:br/>
            <a:r>
              <a:t>  [ Primary AI model, algorithm, or decision logic execution ]</a:t>
            </a:r>
            <a:br/>
            <a:br/>
            <a:r>
              <a:t>• Feature 3 (Output / Action View):</a:t>
            </a:r>
            <a:br/>
            <a:r>
              <a:t>  [ Output visualization, recommendation card, or report generator ]</a:t>
            </a:r>
            <a:br/>
            <a:br/>
            <a:r>
              <a:t>• Feature 4 (Human Oversight Mechanism):</a:t>
            </a:r>
            <a:br/>
            <a:r>
              <a:t>  [ Review / override interface for decision makers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ANNEX D - SOLUTION &amp; TECHNICAL ARCHITECTURE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D2. Technical Architecture Blueprint &amp; Component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25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468880"/>
                <a:gridCol w="3108960"/>
                <a:gridCol w="2590495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Architecture Layer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Proposed Choice / Tech Stack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Purpose in Prototype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Key Dependency / Risk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User Interface / Frontend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e.g., Streamlit, React, HTML/JS ]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User input &amp; output view ]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Browser compatibility, UI speed ]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Backend / Application Logic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e.g., Python FastAPI, Node.js ]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API routing &amp; business logic ]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Server runtime execution ]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AI Model / API / Rules Engine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e.g., OpenAI API, Scikit-learn ]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Intelligence &amp; automation ]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API latency, model accuracy ]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Database / Storage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e.g., PostgreSQL, SQLite, JSON ]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Data persistence &amp; logs ]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Schema readiness, storage ]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External APIs / Integrations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e.g., Gov Gateway, Maps API ]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External data retrieval ]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API key access, downtime ]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Hosting / Runtime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e.g., Localhost, Docker, Cloud ]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Execution environment ]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Internet access, deployment ]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Authentication / Authorization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e.g., Mock RBAC, OAuth ]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Access control ]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Hardcoded test personas ]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Logging &amp; Audit Trail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e.g., File logger, DB logs ]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Activity tracking ]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Log storage format ]</a:t>
                      </a:r>
                    </a:p>
                  </a:txBody>
                  <a:tcPr marT="38100" marB="38100" marL="76200" marR="76200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Human Oversight Point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e.g., Review modal, Override button ]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Manual approval gate ]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t>[ User notification mechanism ]</a:t>
                      </a:r>
                    </a:p>
                  </a:txBody>
                  <a:tcPr marT="38100" marB="381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ANNEX D - SOLUTION &amp; TECHNICAL ARCHITECTURE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Georgia"/>
              </a:defRPr>
            </a:pPr>
            <a:r>
              <a:t>D3. Data Flow Pipeline &amp; MVP Delivery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25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36576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Verdana"/>
              </a:defRPr>
            </a:pPr>
            <a:r>
              <a:t>END-TO-END DATA FLOW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54335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t>Source Data [ Input files / APIs ]  ➔  Processing [ Cleaning / Transformation ]  ➔  Model / Rules Engine [ Execution ]  ➔  Output Generation [ Structured response ]  ➔  User Action [ Decision / Display ]</a:t>
            </a:r>
            <a:br/>
            <a:br/>
            <a:r>
              <a:t>[ Describe specific data inputs, transformations, and output schemas for this solution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3383280" cy="36576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Verdana"/>
              </a:defRPr>
            </a:pPr>
            <a:r>
              <a:t>MINIMUM VIABLE DEMO (END OF DAY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11880"/>
            <a:ext cx="310896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t>• Core Requirement:</a:t>
            </a:r>
            <a:br/>
            <a:r>
              <a:t>  [ What must work by the end of Day 2? ]</a:t>
            </a:r>
            <a:br/>
            <a:br/>
            <a:r>
              <a:t>• Target Milestone:</a:t>
            </a:r>
            <a:br/>
            <a:r>
              <a:t>  - Working end-to-end user input to output</a:t>
            </a:r>
            <a:br/>
            <a:r>
              <a:t>  - Synthetic or sample data loaded</a:t>
            </a:r>
            <a:br/>
            <a:r>
              <a:t>  - Basic UI displaying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20040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3200400"/>
            <a:ext cx="3383280" cy="36576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Verdana"/>
              </a:defRPr>
            </a:pPr>
            <a:r>
              <a:t>MINIMUM VIABLE PROTOTYPE (FINAL JUDGING)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611880"/>
            <a:ext cx="310896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t>• Core Requirement:</a:t>
            </a:r>
            <a:br/>
            <a:r>
              <a:t>  [ What must be demonstrated at final judging? ]</a:t>
            </a:r>
            <a:br/>
            <a:br/>
            <a:r>
              <a:t>• Target Milestone:</a:t>
            </a:r>
            <a:br/>
            <a:r>
              <a:t>  - Refined user interface</a:t>
            </a:r>
            <a:br/>
            <a:r>
              <a:t>  - Validated AI/rules accuracy</a:t>
            </a:r>
            <a:br/>
            <a:r>
              <a:t>  - Edge-case handling &amp; human override demo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200400"/>
            <a:ext cx="33832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3200400"/>
            <a:ext cx="338328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  <a:latin typeface="Verdana"/>
              </a:defRPr>
            </a:pPr>
            <a:r>
              <a:t>TECHNICAL DEPENDENCIES &amp; FALLBACK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3611880"/>
            <a:ext cx="310896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t>• Key Dependency:</a:t>
            </a:r>
            <a:br/>
            <a:r>
              <a:t>  [ e.g., API availability, external dataset ]</a:t>
            </a:r>
            <a:br/>
            <a:br/>
            <a:r>
              <a:t>• Fallback Plan:</a:t>
            </a:r>
            <a:br/>
            <a:r>
              <a:t>  [ What is the backup plan if the primary dependency fails or API access is blocked? e.g., Use mock local JSON database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