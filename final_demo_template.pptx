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600"/>
              </a:spcAft>
              <a:defRPr sz="1200" b="1">
                <a:solidFill>
                  <a:srgbClr val="0F766E"/>
                </a:solidFill>
                <a:latin typeface="Verdana"/>
              </a:defRPr>
            </a:pPr>
            <a:r>
              <a:t>ANNEX H — FINAL DEMO TEMPLATE</a:t>
            </a:r>
          </a:p>
          <a:p>
            <a:pPr>
              <a:spcAft>
                <a:spcPts val="800"/>
              </a:spcAft>
              <a:defRPr sz="2600" b="1">
                <a:solidFill>
                  <a:srgbClr val="0F172A"/>
                </a:solidFill>
                <a:latin typeface="Georgia"/>
              </a:defRPr>
            </a:pPr>
            <a:r>
              <a:t>Day 3 Final Demonstration &amp; Selection Pitch Deck</a:t>
            </a:r>
          </a:p>
          <a:p>
            <a:pPr>
              <a:spcAft>
                <a:spcPts val="2000"/>
              </a:spcAft>
              <a:defRPr sz="1300">
                <a:solidFill>
                  <a:srgbClr val="475569"/>
                </a:solidFill>
                <a:latin typeface="Verdana"/>
              </a:defRPr>
            </a:pPr>
            <a:r>
              <a:t>Standardized presentation structure and evidence submission trail for Day 3 judging panel evaluation.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Verdana"/>
              </a:rPr>
              <a:t>Team Name / ID:                </a:t>
            </a:r>
            <a:r>
              <a:rPr sz="1200">
                <a:solidFill>
                  <a:srgbClr val="475569"/>
                </a:solidFill>
                <a:latin typeface="Verdana"/>
              </a:rPr>
              <a:t>[ Enter Team Name or ID ]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Verdana"/>
              </a:rPr>
              <a:t>Challenge Title:               </a:t>
            </a:r>
            <a:r>
              <a:rPr sz="1200">
                <a:solidFill>
                  <a:srgbClr val="475569"/>
                </a:solidFill>
                <a:latin typeface="Verdana"/>
              </a:rPr>
              <a:t>[ Enter Challenge Title ]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Verdana"/>
              </a:rPr>
              <a:t>Challenge-Owning Institution:  </a:t>
            </a:r>
            <a:r>
              <a:rPr sz="1200">
                <a:solidFill>
                  <a:srgbClr val="475569"/>
                </a:solidFill>
                <a:latin typeface="Verdana"/>
              </a:rPr>
              <a:t>[ Enter Institution / Department ]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Verdana"/>
              </a:rPr>
              <a:t>Presenter(s):                  </a:t>
            </a:r>
            <a:r>
              <a:rPr sz="1200">
                <a:solidFill>
                  <a:srgbClr val="475569"/>
                </a:solidFill>
                <a:latin typeface="Verdana"/>
              </a:rPr>
              <a:t>[ Name(s) &amp; Role(s) of Speaker(s) ]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Verdana"/>
              </a:rPr>
              <a:t>Demo / Repository Link:        </a:t>
            </a:r>
            <a:r>
              <a:rPr sz="1200">
                <a:solidFill>
                  <a:srgbClr val="475569"/>
                </a:solidFill>
                <a:latin typeface="Verdana"/>
              </a:rPr>
              <a:t>[ URL to Working Demo, Prototype, or Code Repo ]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Verdana"/>
              </a:rPr>
              <a:t>Date &amp; Session:                </a:t>
            </a:r>
            <a:r>
              <a:rPr sz="1200">
                <a:solidFill>
                  <a:srgbClr val="475569"/>
                </a:solidFill>
                <a:latin typeface="Verdana"/>
              </a:rPr>
              <a:t>Day 3 — Final Judging &amp; Selection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CCFBF1"/>
                </a:solidFill>
                <a:latin typeface="Verdana"/>
              </a:defRPr>
            </a:pPr>
            <a:r>
              <a:t>ANNEX H — FINAL DEMO TEMPLATE</a:t>
            </a:r>
          </a:p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H1. Recommended Demo Flow — Part 1: Problem, User, Solution &amp; Live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500" b="1">
                <a:solidFill>
                  <a:srgbClr val="0F766E"/>
                </a:solidFill>
                <a:latin typeface="Georgia"/>
              </a:defRPr>
            </a:pPr>
            <a:r>
              <a:t>1. Problem Statement (45 sec)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What is the government / public-service problem and why does it matter?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[ State the validated problem statement from Annex A. Highlight the specific operational friction, institutional bottleneck, or citizen impact.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500" b="1">
                <a:solidFill>
                  <a:srgbClr val="0F766E"/>
                </a:solidFill>
                <a:latin typeface="Georgia"/>
              </a:defRPr>
            </a:pPr>
            <a:r>
              <a:t>2. User &amp; Evidence (45 sec)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Who experiences it and what evidence validates the problem?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[ Describe primary users (Annex B). Cite concrete metrics, records, or user feedback gathered on Day 1 that prove the issue is real and severe.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500" b="1">
                <a:solidFill>
                  <a:srgbClr val="0F766E"/>
                </a:solidFill>
                <a:latin typeface="Georgia"/>
              </a:defRPr>
            </a:pPr>
            <a:r>
              <a:t>3. Solution &amp; Impact (45 sec)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What did the team build and what does it change?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[ Present the core concept (Annex D). Explain how the prototype transforms the current situation and the specific value created for users.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500" b="1">
                <a:solidFill>
                  <a:srgbClr val="0F766E"/>
                </a:solidFill>
                <a:latin typeface="Georgia"/>
              </a:defRPr>
            </a:pPr>
            <a:r>
              <a:t>4. Live Demo &amp; Workflow (2–3 min)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Show the core user journey and working artefact.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[ Walk through the working prototype end-to-end: Input Data ➔ Processing / AI Logic ➔ Actionable Output ➔ Human Oversight Checkpoint.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CCFBF1"/>
                </a:solidFill>
                <a:latin typeface="Verdana"/>
              </a:defRPr>
            </a:pPr>
            <a:r>
              <a:t>ANNEX H — FINAL DEMO TEMPLATE</a:t>
            </a:r>
          </a:p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H1. Recommended Demo Flow — Part 2: Architecture, AI, Value &amp; Incubation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500" b="1">
                <a:solidFill>
                  <a:srgbClr val="0F766E"/>
                </a:solidFill>
                <a:latin typeface="Georgia"/>
              </a:defRPr>
            </a:pPr>
            <a:r>
              <a:t>5. Technical Justification (45 sec)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Why this architecture and why AI, if AI is used?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[ Justify key technical stack choices (Annex D). Explain why AI/ML was necessary over simple rules and show non-AI fallback logic.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500" b="1">
                <a:solidFill>
                  <a:srgbClr val="0F766E"/>
                </a:solidFill>
                <a:latin typeface="Georgia"/>
              </a:defRPr>
            </a:pPr>
            <a:r>
              <a:t>6. Responsible AI &amp; Safety (45 sec)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What risks, safeguards and human oversight were considered?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[ Address key findings from Annex E: data authorization, privacy safeguards, bias mitigations, and human-in-the-loop oversight points.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500" b="1">
                <a:solidFill>
                  <a:srgbClr val="0F766E"/>
                </a:solidFill>
                <a:latin typeface="Georgia"/>
              </a:defRPr>
            </a:pPr>
            <a:r>
              <a:t>7. Institutional Value (45 sec)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What improves for the challenge-owning institution?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[ Quantify expected efficiency, cost, or speed gains. Detail organizational adoption, policy fit, and operational scalability.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500" b="1">
                <a:solidFill>
                  <a:srgbClr val="0F766E"/>
                </a:solidFill>
                <a:latin typeface="Georgia"/>
              </a:defRPr>
            </a:pPr>
            <a:r>
              <a:t>8. Incubation Plan (45 sec)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What must be built / validated next during incubation?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[ Outline top 3 technical &amp; operational milestones required to move from prototype to live pilot during the incubation phase.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CCFBF1"/>
                </a:solidFill>
                <a:latin typeface="Verdana"/>
              </a:defRPr>
            </a:pPr>
            <a:r>
              <a:t>ANNEX H — FINAL DEMO TEMPLATE</a:t>
            </a:r>
          </a:p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H2. Submission Checklist — Hackathon Evidence Trail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516575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Required Evidence Item</a:t>
                      </a:r>
                    </a:p>
                  </a:txBody>
                  <a:tcPr marT="50800" marB="508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Status (Ready?)</a:t>
                      </a:r>
                    </a:p>
                  </a:txBody>
                  <a:tcPr marT="50800" marB="508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Location / Link / Verification Note</a:t>
                      </a:r>
                    </a:p>
                  </a:txBody>
                  <a:tcPr marT="50800" marB="50800" marL="76200" marR="76200">
                    <a:solidFill>
                      <a:srgbClr val="1E293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Validated Problem Statement (Annex A)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[ Ready / Pending ]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[ Link to Annex A submission / Folder path ]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User &amp; Stakeholder Map (Annex B)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[ Ready / Pending ]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[ Link to Annex B submission / Folder path ]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Data Reality Check (Annex C)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[ Ready / Pending ]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[ Link to Annex C submission / Folder path ]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Solution &amp; Technical Architecture Canvas (Annex D)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[ Ready / Pending ]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[ Link to Annex D submission / Folder path ]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Responsible AI Checklist (Annex E)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[ Ready / Pending ]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[ Link to Annex E submission / Folder path ]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Demonstrable Prototype / PoC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[ Ready / Pending ]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[ Repository / Live Demo / Hosted URL ]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Challenge-Owner / User Feedback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[ Ready / Pending ]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[ Summary of feedback / Testimonial note ]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Incubation Backlog &amp; Next-Step Plan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[ Ready / Pending ]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[ Backlog doc / Trello / Jira / Annex H section ]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Pitch / Final Demo Deck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[ Ready / Pending ]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[ Final PPTX / PDF presentation file ]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CCFBF1"/>
                </a:solidFill>
                <a:latin typeface="Verdana"/>
              </a:defRPr>
            </a:pPr>
            <a:r>
              <a:t>ANNEX H — FINAL DEMO TEMPLATE</a:t>
            </a:r>
          </a:p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H3. Final Team Pitch Statement &amp; Incubation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0F766E"/>
                </a:solidFill>
                <a:latin typeface="Georgia"/>
              </a:defRPr>
            </a:pPr>
            <a:r>
              <a:t>Core Pitch Statements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1. What problem did you validate?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"For [primary user], [current situation] causes [specific friction], resulting in [impact]."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2. What did you build?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"We built [prototype name], a [solution type] that executes [core feature] with [human oversight]."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3. Why should this team continue into incubation?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"Our team combines [key skills/domain knowledge] and has validated data access, user demand, and technical feasibility to deliver a live pilot in [X] weeks."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516575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0F766E"/>
                </a:solidFill>
                <a:latin typeface="Georgia"/>
              </a:defRPr>
            </a:pPr>
            <a:r>
              <a:t>Top Three Incubation Priorities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Priority 1: Real Data Integration &amp; Security Clearance</a:t>
            </a:r>
          </a:p>
          <a:p>
            <a:pPr>
              <a:spcAft>
                <a:spcPts val="14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[ Transition from synthetic/sample data to direct institutional API / database integration under formal approval. Owner: Data Lead ]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Priority 2: User Co-Design &amp; Pilot Testing</a:t>
            </a:r>
          </a:p>
          <a:p>
            <a:pPr>
              <a:spcAft>
                <a:spcPts val="14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[ Conduct structured usability testing with primary operational users and refine UI/workflow. Owner: Product/Design Lead ]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Priority 3: Model Tuning &amp; Governance Validation</a:t>
            </a:r>
          </a:p>
          <a:p>
            <a:pPr>
              <a:spcAft>
                <a:spcPts val="14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[ Perform model accuracy evaluation, bias testing, and establish human-in-the-loop logging. Owner: AI/Technical Lead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