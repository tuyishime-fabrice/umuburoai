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juC7mBqjRYhFlf4AkHGR5ahg78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886E25-48AF-473B-A4D3-897E2CF9E7B4}">
  <a:tblStyle styleId="{D0886E25-48AF-473B-A4D3-897E2CF9E7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31520" y="731520"/>
            <a:ext cx="10728655" cy="16459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Verdana"/>
                <a:ea typeface="Verdana"/>
                <a:cs typeface="Verdana"/>
                <a:sym typeface="Verdana"/>
              </a:rPr>
              <a:t>ANNEX B: USER &amp; STAKEHOLDER MAP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Institutional Stakeholder, User Journey &amp; Decision Mapping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9F6E4"/>
                </a:solidFill>
                <a:latin typeface="Verdana"/>
                <a:ea typeface="Verdana"/>
                <a:cs typeface="Verdana"/>
                <a:sym typeface="Verdana"/>
              </a:rPr>
              <a:t>Participant Workshop Template | Day 1 Problem Framing &amp; Institutional Analysis</a:t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731520" y="2651760"/>
            <a:ext cx="5175504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TEAM NAME / ID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[ Enter Team Name or ID ]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6272784" y="2651760"/>
            <a:ext cx="5175504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CHALLENGE TITLE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[ Enter Challenge Title ]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731520" y="4572000"/>
            <a:ext cx="5175504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INSTITUTION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[ Enter Challenge-Owning Institution ]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6272784" y="4572000"/>
            <a:ext cx="5175504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DATE &amp; SESSION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[ Enter Date / Workshop Session 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ANNEX B: STAKEHOLDER ASSESSMENT (1/2)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731520" y="594360"/>
            <a:ext cx="1072865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B1. Stakeholder Register — Core Users, Beneficiaries &amp; Decision Makers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731520" y="15361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{D0886E25-48AF-473B-A4D3-897E2CF9E7B4}</a:tableStyleId>
              </a:tblPr>
              <a:tblGrid>
                <a:gridCol w="2011675"/>
                <a:gridCol w="2743200"/>
                <a:gridCol w="2286000"/>
                <a:gridCol w="1371600"/>
                <a:gridCol w="2316175"/>
              </a:tblGrid>
              <a:tr h="95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Stakeholder Group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Role in Current Process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Need / Interest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Influence (L/M/H)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Engagement Required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Primary User</a:t>
                      </a:r>
                      <a:b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(Directly experiences problem)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Describe primary user's role in daily operations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Key operational needs, pain points &amp; desired outcome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L / M / H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Co-design, user testing, feedback sessions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Secondary User</a:t>
                      </a:r>
                      <a:b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(Interacts with outputs/reports)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Describe secondary user's interaction with process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Needs for reporting, visibility, or downstream data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L / M / H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Periodic consultation, review of outputs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Beneficiary</a:t>
                      </a:r>
                      <a:b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(Citizens, businesses, clients)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Who ultimately benefits from improved service?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Fast response time, transparency, fairness, access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L / M / H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Surveys, user journeys, policy alignment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  <a:tr h="95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Decision Maker</a:t>
                      </a:r>
                      <a:b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(Authorizes process/resource)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Who holds decision rights and resource allocation?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ROI, risk mitigation, compliance, strategic alignment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High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Strategic briefings, formal milestone approvals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ANNEX B: STAKEHOLDER ASSESSMENT (2/2)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731520" y="594360"/>
            <a:ext cx="1072865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B1. Stakeholder Register — System Owners, Governance &amp; Potential Blockers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" name="Google Shape;104;p3"/>
          <p:cNvGraphicFramePr/>
          <p:nvPr/>
        </p:nvGraphicFramePr>
        <p:xfrm>
          <a:off x="731520" y="15361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{D0886E25-48AF-473B-A4D3-897E2CF9E7B4}</a:tableStyleId>
              </a:tblPr>
              <a:tblGrid>
                <a:gridCol w="2011675"/>
                <a:gridCol w="2743200"/>
                <a:gridCol w="2286000"/>
                <a:gridCol w="1371600"/>
                <a:gridCol w="2316175"/>
              </a:tblGrid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Stakeholder Group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Role in Current Process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Need / Interest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Influence (L/M/H)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Engagement Required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Owner</a:t>
                      </a:r>
                      <a:b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(Custodies required datasets)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Holds administrative rights to key data sources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Data security, compliance, protocol adherence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M / H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Data sharing agreement, API access request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System Owner</a:t>
                      </a:r>
                      <a:b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(Manages IT infrastructure)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Maintains host IT systems, servers, applications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System stability, security review, interoperability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M / H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Technical architecture review, sandbox access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Approver / Regulator</a:t>
                      </a:r>
                      <a:b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(Ensures legal compliance)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Grants regulatory, legal, or policy clearance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Statutory compliance, ethics, audit trails, risk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High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Regulatory mapping, privacy impact review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Institutional Champion</a:t>
                      </a:r>
                      <a:b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(Sponsors project internally)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Promotes innovation and overcomes internal friction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Project success, institutional impact, leadership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High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Regular updates, advocate for resource clearing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Potential Blocker</a:t>
                      </a:r>
                      <a:b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b="1" lang="en-US" sz="95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(Friction / resistance points)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Stakeholders who may resist change or delay access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Job security, workload increase, fear of automation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M / H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Early consultation, change management plan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ANNEX B: WORKFLOW &amp; GOVERNANCE ANALYSIS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731520" y="594360"/>
            <a:ext cx="1072865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B2. User Journey &amp; Decision Flow Mapping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31520" y="1536192"/>
            <a:ext cx="5175504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64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1. PRIMARY USER JOURNEY TODAY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Describe step-by-step workflow from trigger to final outcome: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Start trigger / input: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Key operational steps: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End outcome / deliverable: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272784" y="1536192"/>
            <a:ext cx="5175504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64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2. HAND-OFFS &amp; BOTTLENECK POINTS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Identify friction areas in the process: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Major hand-offs between teams/departments: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Chief sources of delay or queueing: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Manual errors or data re-entry points: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31520" y="4041648"/>
            <a:ext cx="5175504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64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3. CONSEQUENTIAL DECISIONS &amp; AI OVERSIGHT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Map decision rights and human-in-the-loop rules: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Who makes consequential decisions today?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Where MUST human oversight remain if AI/automation is introduced?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What discretionary judgment is required?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272784" y="4041648"/>
            <a:ext cx="5175504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64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4. PROTOTYPE VALIDATION REQUIREMENT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Specify approval gatekeepers: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Which stakeholder group must validate the prototype before selection?</a:t>
            </a:r>
            <a:b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• What evidence or criteria do they require to grant clearance?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Verdana"/>
                <a:ea typeface="Verdana"/>
                <a:cs typeface="Verdana"/>
                <a:sym typeface="Verdana"/>
              </a:rPr>
              <a:t>ANNEX B: ACTIONABLE COMMUNICATION &amp; CO-DESIGN ROADMAP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731520" y="594360"/>
            <a:ext cx="1072865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B3. Priority Stakeholder Engagement Plan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" name="Google Shape;123;p5"/>
          <p:cNvGraphicFramePr/>
          <p:nvPr/>
        </p:nvGraphicFramePr>
        <p:xfrm>
          <a:off x="731520" y="15361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{D0886E25-48AF-473B-A4D3-897E2CF9E7B4}</a:tableStyleId>
              </a:tblPr>
              <a:tblGrid>
                <a:gridCol w="2286000"/>
                <a:gridCol w="3230575"/>
                <a:gridCol w="2011675"/>
                <a:gridCol w="1645925"/>
                <a:gridCol w="1554475"/>
              </a:tblGrid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Target Stakeholder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Purpose of Engagement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Method / Format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Lead Owner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Timeline / When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0F766E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Primary User Group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Co-design solution, observe workflow, test early UX wireframes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Focus group / Shadowing / Prototype test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Team Lead / UX Owner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Day 1 - Day 2 ]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&amp; System Owners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Secure API/dataset access authorization &amp; confirm technical specs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Technical briefing / Sandbox request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Technical / Data Lead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Day 1 ]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Decision Maker &amp; Champion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Maintain strategic alignment, secure buy-in &amp; review milestone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[ 15-min Executive briefing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Team Lead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Day 1 / Mid-Point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Approver / Regulator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Review compliance, data privacy, ethics &amp; governance restrictions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Legal/Compliance review document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Policy / Risk Lead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Day 2 ]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FFFFF"/>
                    </a:solidFill>
                  </a:tcPr>
                </a:tc>
              </a:tr>
              <a:tr h="79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15E5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Secondary Users / Blocker Group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Manage change, gather feedback &amp; address operational concerns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Workshop / Q&amp;A session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Change / Comms Lead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64748B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[ Incubation Phase ]</a:t>
                      </a:r>
                      <a:endParaRPr/>
                    </a:p>
                  </a:txBody>
                  <a:tcPr marT="45725" marB="45725" marR="109725" marL="109725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