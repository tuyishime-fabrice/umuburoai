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HACKATHON EVIDENCE TRAIL — DAY 2 &amp; FINAL JUDGING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Annex E — Responsible AI Checklist &amp; Risk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Purpose &amp; Instructions: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This checklist establishes Responsible AI as a mandatory design requirement. Teams must evaluate necessity, data authorization, privacy, fairness, explainability, oversight, and failure handling. Complete on Day 2 and update prior to final judging.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Team Name / ID: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[Type Team Name / ID Here]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42316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Challenge Title: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[Type Challenge Title Here]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42316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Challenge-Owning Institution: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[Type Institution Name]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3484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Responsible AI Lead: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[Type Lead Name / Role]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43484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Technical Mentor / Trainer: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[Type Mentor Name]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43484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0284C7"/>
                </a:solidFill>
                <a:latin typeface="Verdana"/>
              </a:defRPr>
            </a:pPr>
            <a:r>
              <a:t>Date &amp; Version: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  <a:latin typeface="Verdana"/>
              </a:defRPr>
            </a:pPr>
            <a:r>
              <a:t>Day 2 / Final Judging — [Date]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4748B"/>
                </a:solidFill>
                <a:latin typeface="Verdana"/>
              </a:defRPr>
            </a:pPr>
            <a:r>
              <a:t>Note: Completed template forms part of the hackathon evidence trail and is transferred to incubation for selected teams.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RESPONSIBLE AI CHECKLIST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Assessment — Necessity, Data, Privacy &amp; Fairness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3200400"/>
                <a:gridCol w="3139135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Assessment Area &amp; Key Question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Status</a:t>
                      </a:r>
                    </a:p>
                    <a:p>
                      <a:r>
                        <a:t>(OK/Action/NA)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Evidence &amp; Identified Risks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Mitigation Strategy &amp; Owner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Necessity &amp; Proportionality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Is AI necessary, or would a simpler rule-based approach be sufficient?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[Document why AI/ML is required vs non-AI alternative]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Data Authorization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Is institutional/personal data lawfully and organizationally authorized for this use?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[State data clearance source or authorization gap]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Privacy &amp; Safeguards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Does the solution process personal/sensitive data, and are safeguards defined?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[Identify PII/sensitive fields &amp; exposure risks]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Security &amp; Access Control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Are access controls, storage, transmission, and credential risks addressed?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[Document encryption, auth, &amp; API key risks]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Bias &amp; Fairness</a:t>
                      </a:r>
                    </a:p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Which user groups could be underrepresented, disadvantaged, or unfairly treated?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[Identify potential demographic or operational biases]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36576" marB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RESPONSIBLE AI CHECKLIST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Core Assessment — Explainability, Oversight, Harm &amp; Recourse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3200400"/>
                <a:gridCol w="3139135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Assessment Area &amp; Key Question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Status</a:t>
                      </a:r>
                    </a:p>
                    <a:p>
                      <a:r>
                        <a:t>(OK/Action/NA)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Evidence &amp; Identified Risks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Mitigation Strategy &amp; Owner</a:t>
                      </a:r>
                    </a:p>
                  </a:txBody>
                  <a:tcPr anchor="ctr" marL="73152" marR="73152" marT="45720" marB="45720"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Explainability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Can users and decision-makers understand how outputs are produced?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[Detail output clarity &amp; explanation mechanism]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Human Oversight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Where in the workflow must a human review, confirm, or override the system?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[Define exact human-in-the-loop checkpoint]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Failure Handling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What happens when the model makes errors or becomes unavailable?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[Document fallback procedure &amp; manual override]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Misuse &amp; Unintended Harm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How could the solution be misused or cause administrative/user harm?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[Identify potential misuse scenarios]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Accountability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Who holds institutional accountability for decisions supported by AI?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[Name accountable institutional role]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Post-Deployment Monitoring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What performance, drift, or fairness metrics should be monitored?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[List audit &amp; monitoring indicators]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User Recourse &amp; Escalation</a:t>
                      </a:r>
                    </a:p>
                    <a:p>
                      <a:pPr>
                        <a:defRPr sz="75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Can an affected user question, appeal, or escalate an automated outcome?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[Select Status]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[Define user grievance &amp; appeal path]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  <a:latin typeface="Verdana"/>
                        </a:defRPr>
                      </a:pPr>
                      <a:r>
                        <a:t>[Action &amp; Owner]</a:t>
                      </a:r>
                    </a:p>
                  </a:txBody>
                  <a:tcPr anchor="ctr" marL="73152" marR="73152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CRITICAL GOVERNANCE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E1. Critical Red-Flag Review — Risk Screening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640080"/>
          </a:xfrm>
          <a:prstGeom prst="roundRect">
            <a:avLst/>
          </a:prstGeom>
          <a:solidFill>
            <a:srgbClr val="FEF2F2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 b="1">
                <a:solidFill>
                  <a:srgbClr val="991B1B"/>
                </a:solidFill>
                <a:latin typeface="Verdana"/>
              </a:defRPr>
            </a:pPr>
            <a:r>
              <a:t>⚠️ MANDATORY SCREENING: Any 'Red Flag Present = YES' requires a resolved action plan before proceeding to final judging.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1: Unauthorized Data Use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Use of institutional, personal, or confidential data without clear organizational authorization.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[Present? Yes / No]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[Required Action Before Demo / Final Pitch]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1488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2: Unresolved Critical Security / Legal Risk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Unresolved critical privacy, security, safety, or legal non-compliance risks.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[Present? Yes / No]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[Required Action Before Demo / Final Pitch]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3: Autonomous Consequential Decisions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Consequential AI decision executed with no credible human oversight or override mechanism.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[Present? Yes / No]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[Required Action Before Demo / Final Pitch]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42062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0F172A"/>
                </a:solidFill>
                <a:latin typeface="Verdana"/>
              </a:defRPr>
            </a:pPr>
            <a:r>
              <a:t>Red Flag 4: Unexplainable Model Outputs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Team cannot explain how an important model or system output is produced or utilized.</a:t>
            </a:r>
          </a:p>
          <a:p>
            <a:pPr>
              <a:spcBef>
                <a:spcPts val="600"/>
              </a:spcBef>
              <a:defRPr sz="1000" b="1">
                <a:solidFill>
                  <a:srgbClr val="991B1B"/>
                </a:solidFill>
                <a:latin typeface="Verdana"/>
              </a:defRPr>
            </a:pPr>
            <a:r>
              <a:t>Red Flag Present: [Present? Yes / No]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Verdana"/>
              </a:defRPr>
            </a:pPr>
            <a:r>
              <a:t>Action Required: [Required Action Before Demo / Final Pitch]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ANNEX E: JUDGING &amp; INCUBATION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Responsible AI Pitch Summary &amp; Governance Sign-Off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2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1. Responsible AI Pitch Summary</a:t>
            </a:r>
          </a:p>
          <a:p>
            <a:pPr>
              <a:spcBef>
                <a:spcPts val="200"/>
              </a:spcBef>
              <a:defRPr sz="950" i="1">
                <a:solidFill>
                  <a:srgbClr val="64748B"/>
                </a:solidFill>
                <a:latin typeface="Verdana"/>
              </a:defRPr>
            </a:pPr>
            <a:r>
              <a:t>(Max 100 words for Judging Presentation)</a:t>
            </a:r>
          </a:p>
          <a:p>
            <a:pPr>
              <a:spcBef>
                <a:spcPts val="1200"/>
              </a:spcBef>
              <a:defRPr sz="1050">
                <a:solidFill>
                  <a:srgbClr val="64748B"/>
                </a:solidFill>
                <a:latin typeface="Verdana"/>
              </a:defRPr>
            </a:pPr>
            <a:r>
              <a:t>[Draft a concise summary highlighting how your solution ensures human oversight, data authorization, privacy protection, and failure handling during real-world deployment.]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2. Human-in-the-Loop Protocol</a:t>
            </a:r>
          </a:p>
          <a:p>
            <a:pPr>
              <a:spcBef>
                <a:spcPts val="200"/>
              </a:spcBef>
              <a:defRPr sz="950" i="1">
                <a:solidFill>
                  <a:srgbClr val="64748B"/>
                </a:solidFill>
                <a:latin typeface="Verdana"/>
              </a:defRPr>
            </a:pPr>
            <a:r>
              <a:t>(Mandatory Oversight Mechanism)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• Primary Reviewer Role: [e.g., Senior Case Officer]</a:t>
            </a:r>
            <a:br/>
            <a:br/>
            <a:r>
              <a:t>• Trigger for Human Intervention: [e.g., Confidence score &lt; 85% or high-risk Flag]</a:t>
            </a:r>
            <a:br/>
            <a:br/>
            <a:r>
              <a:t>• Override Authority: [Human decision supersedes automated output]</a:t>
            </a:r>
            <a:br/>
            <a:br/>
            <a:r>
              <a:t>• Audit Logging: [All overrides recorded in system log]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0284C7"/>
                </a:solidFill>
                <a:latin typeface="Verdana"/>
              </a:defRPr>
            </a:pPr>
            <a:r>
              <a:t>3. Sign-Off &amp; Incubation Commitments</a:t>
            </a:r>
          </a:p>
          <a:p>
            <a:pPr>
              <a:spcBef>
                <a:spcPts val="200"/>
              </a:spcBef>
              <a:defRPr sz="950" i="1">
                <a:solidFill>
                  <a:srgbClr val="64748B"/>
                </a:solidFill>
                <a:latin typeface="Verdana"/>
              </a:defRPr>
            </a:pPr>
            <a:r>
              <a:t>(Handoff to Incubation Phase)</a:t>
            </a:r>
          </a:p>
          <a:p>
            <a:pPr>
              <a:spcBef>
                <a:spcPts val="1200"/>
              </a:spcBef>
              <a:defRPr sz="1000">
                <a:solidFill>
                  <a:srgbClr val="64748B"/>
                </a:solidFill>
                <a:latin typeface="Verdana"/>
              </a:defRPr>
            </a:pPr>
            <a:r>
              <a:t>Responsible AI Lead Sign-off:</a:t>
            </a:r>
            <a:br/>
            <a:r>
              <a:t>[Name / Signature / Date]</a:t>
            </a:r>
            <a:br/>
            <a:br/>
            <a:r>
              <a:t>Technical Mentor Sign-off:</a:t>
            </a:r>
            <a:br/>
            <a:r>
              <a:t>[Name / Signature / Date]</a:t>
            </a:r>
            <a:br/>
            <a:br/>
            <a:r>
              <a:t>Open Incubation Governance Actions:</a:t>
            </a:r>
            <a:br/>
            <a:r>
              <a:t>1. [e.g., Formal Data Protection Impact Assessment]</a:t>
            </a:r>
            <a:br/>
            <a:r>
              <a:t>2. [e.g., External Bias Audit prior to pilot]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