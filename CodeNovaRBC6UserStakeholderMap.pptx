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juC7mBqjRYhFlf4AkHGR5ahg78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886E25-48AF-473B-A4D3-897E2CF9E7B4}">
  <a:tblStyle styleId="{D0886E25-48AF-473B-A4D3-897E2CF9E7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31520" y="731520"/>
            <a:ext cx="10728655" cy="16459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Verdana"/>
                <a:ea typeface="Verdana"/>
                <a:cs typeface="Verdana"/>
                <a:sym typeface="Verdana"/>
              </a:rPr>
              <a:t>ANNEX B: USER &amp; STAKEHOLDER MAP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Institutional Stakeholder, User Journey &amp; Decision Mapping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F6E4"/>
                </a:solidFill>
                <a:latin typeface="Verdana"/>
                <a:ea typeface="Verdana"/>
                <a:cs typeface="Verdana"/>
                <a:sym typeface="Verdana"/>
              </a:rPr>
              <a:t>Participant Workshop Template | Day 1 Problem Framing &amp; Institutional Analysis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731520" y="2651760"/>
            <a:ext cx="5175504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TEAM NAME / ID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CodeNova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6272784" y="2651760"/>
            <a:ext cx="5175504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CHALLENGE TITLE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Malaria outbreaks are often identified only after cases rise, leaving limited time for response.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731520" y="4572000"/>
            <a:ext cx="5175504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INSTITUTION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Rwanda Biomedical Centre (RBC)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6272784" y="4572000"/>
            <a:ext cx="5175504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DATE &amp; SESSION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30 September 2026 · UR UNIPOD, CST Campus</a:t>
            </a:r>
            <a:endParaRPr/>
          </a:p>
        </p:txBody>
      </p:sp>
      <p:pic>
        <p:nvPicPr>
          <p:cNvPr id="89" name="Picture 8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67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ANNEX B: STAKEHOLDER ASSESSMENT (1/2)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B1. Stakeholder Register — Core Users, Beneficiaries &amp; Decision Makers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731520" y="1536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{D0886E25-48AF-473B-A4D3-897E2CF9E7B4}</a:tableStyleId>
              </a:tblPr>
              <a:tblGrid>
                <a:gridCol w="2011675"/>
                <a:gridCol w="2743200"/>
                <a:gridCol w="2286000"/>
                <a:gridCol w="1371600"/>
                <a:gridCol w="2316175"/>
              </a:tblGrid>
              <a:tr h="95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Stakeholder Group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Role in Current Process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Need / Interest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Influence (L/M/H)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Engagement Required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Primary User — district malaria / disease surveillance teams (2 pilot districts)</a:t>
                      </a:r>
                      <a:b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/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Monitor malaria cases &amp; trends from facilities, investigate unusual rises, coordinate the response with health actors.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Rises are spotted late (data split across DHIS2/HMIS, IDSR, eLMIS). Need alerts that explain WHY + a forecast, to prepare (stock, CHWs, case-finding) before an increase.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Co-design the alert/forecast/dashboard workflow; user-testing with both teams; feedback after each alert (confirmed or dismissed).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Secondary User — RBC National Malaria Team</a:t>
                      </a:r>
                      <a:b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/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Oversees surveillance across districts, monitors national &amp; district trends, gives technical guidance.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Consolidated view of district alerts &amp; forecasts and how they resolved; prediction-accuracy evidence to guide scale-up.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Periodic consultation; review of alert &amp; forecast outputs; technical validation of the approach.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Beneficiary — communities in the 2 pilot districts</a:t>
                      </a:r>
                      <a:b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/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Receive malaria testing &amp; treatment at health facilities and through CHWs.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Faster, better-targeted response before peaks; fair access; protection (nets/IRS/RDTs) reaching the right villages in time.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Indirect — through CHWs &amp; facilities; community feedback via CHWs; work stays aligned with local needs.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Decision Maker — RBC/MOPDD &amp; district leadership</a:t>
                      </a:r>
                      <a:b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/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Authorise campaigns, resource allocation &amp; data access.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Impact, efficient spend, compliance, and evidence to guide scale-up.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High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Executive briefings, milestone approvals, policy alignment.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ANNEX B: STAKEHOLDER ASSESSMENT (2/2)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B1. Stakeholder Register — System Owners, Governance &amp; Potential Blockers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3"/>
          <p:cNvGraphicFramePr/>
          <p:nvPr/>
        </p:nvGraphicFramePr>
        <p:xfrm>
          <a:off x="731520" y="1536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{D0886E25-48AF-473B-A4D3-897E2CF9E7B4}</a:tableStyleId>
              </a:tblPr>
              <a:tblGrid>
                <a:gridCol w="2011675"/>
                <a:gridCol w="2743200"/>
                <a:gridCol w="2286000"/>
                <a:gridCol w="1371600"/>
                <a:gridCol w="2316175"/>
              </a:tblGrid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Stakeholder Group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Role in Current Process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Need / Interest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Influence (L/M/H)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Engagement Required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Owner — MoH / RBC (custodians of DHIS2/HMIS, IDSR, eLMIS)</a:t>
                      </a:r>
                      <a:b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/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Hold admin rights to the routine malaria case, surveillance &amp; stock data the system reads.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security &amp; confidentiality; follow reporting protocols; data used only for surveillance. The system reads data, does not change it.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Data-sharing agreement; read-only access (API or scheduled extracts) for the 2 pilot districts.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System Owner — RBC HMIS &amp; IT teams (DHIS2, IDSR, eLMIS)</a:t>
                      </a:r>
                      <a:b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/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Maintain the host systems, servers &amp; accounts the early-warning layer connects to.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Stability (no extra load on national systems), security review, interoperability — not a parallel system.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Technical architecture review; sandbox / test access before connecting to live data.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Approver / Regulator — RBC (policy); Rwanda National Ethics Committee (if required)</a:t>
                      </a:r>
                      <a:b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/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Grant policy, ethical &amp; data-protection clearance before live data &amp; predictions are used.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Compliance with Law No. 058/2021; ethics; audit trails of every alert; clear human accountability.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Regulatory mapping; privacy impact review; show that district teams (not the AI) confirm every alert.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Institutional Champion — RBC malaria programme</a:t>
                      </a:r>
                      <a:b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/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Sponsor the pilot inside RBC, link it to national priorities, remove internal friction.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Pilot success; evidence predictions give districts time to prepare; a clear path to scale-up.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Regular progress updates; joint review of results; support securing data access &amp; district buy-in.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Potential Blocker — friction / resistance points</a:t>
                      </a:r>
                      <a:b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/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May resist extra work, doubt the predictions, or delay data &amp; system access.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 new data entry; fear the AI replaces judgement; alert fatigue; not being blamed for predictions.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Early consultation; change-management plan; human-in-control design; short training; feedback on accuracy.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ANNEX B: WORKFLOW &amp; GOVERNANCE ANALYSIS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B2. User Journey &amp; Decision Flow Mapping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31520" y="1536192"/>
            <a:ext cx="5175504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1. PRIMARY USER JOURNEY TODAY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Start / input: Weekly malaria reports from facilities &amp; CHWs (DHIS2/HMIS, IDSR); stock data in eLMIS.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Key steps: District team reviews trends by hand, calls facilities to verify a rise, checks stock, informs district leadership &amp; RBC/MOPDD.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End outcome: A response is organised only once cases have already risen.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272784" y="1536192"/>
            <a:ext cx="5175504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2. HAND-OFFS &amp; BOTTLENECK POINTS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Hand-offs: CHWs → facilities → district team → district leadership / RBC/MOPDD.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Delay: Late weekly reports, data in separate systems, manual trend checks, no forecast.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Errors: Paper-to-report transcription, CHW reports tallied by hand, spreadsheet analysis.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31520" y="4041648"/>
            <a:ext cx="5175504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3. CONSEQUENTIAL DECISIONS &amp; AI OVERSIGHT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Decides today: District surveillance/response teams, district leadership (resources), RBC/MOPDD (national support).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Human oversight MUST remain: confirm alerts &amp; predictions, act on forecasts, deploy CHWs, move stock. The AI flags &amp; forecasts; people decide.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Judgment: is a rise real or a reporting error; local context; which sectors to prioritise.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272784" y="4041648"/>
            <a:ext cx="5175504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4. PROTOTYPE VALIDATION REQUIREMENT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Validators: RBC/MOPDD (approval), the two district teams (usability), CHWs (clarity of local alerts).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Evidence: backtest (early detection, lead time, false alarms), forecast accuracy, a clear reason per alert, no extra data entry, data-protection compliance.</a:t>
            </a:r>
            <a:endParaRPr/>
          </a:p>
        </p:txBody>
      </p:sp>
      <p:pic>
        <p:nvPicPr>
          <p:cNvPr id="116" name="Picture 11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67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ANNEX B: ACTIONABLE COMMUNICATION &amp; CO-DESIGN ROADMAP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B3. Priority Stakeholder Engagement Plan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5"/>
          <p:cNvGraphicFramePr/>
          <p:nvPr/>
        </p:nvGraphicFramePr>
        <p:xfrm>
          <a:off x="731520" y="1536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{D0886E25-48AF-473B-A4D3-897E2CF9E7B4}</a:tableStyleId>
              </a:tblPr>
              <a:tblGrid>
                <a:gridCol w="2286000"/>
                <a:gridCol w="3230575"/>
                <a:gridCol w="2011675"/>
                <a:gridCol w="1645925"/>
                <a:gridCol w="1554475"/>
              </a:tblGrid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Target Stakeholder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Purpose of Engagement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Method / Format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Lead Owner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Timeline / When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Primary User Group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Map the workflow; test the dashboard, forecasts &amp; alert steps; collect feedback.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Short interviews + prototype walkthrough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Team Lead / UX Owner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Day 1 – Day 2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&amp; System Owners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Confirm read-only data access, data formats &amp; integration needs.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Technical briefing + sandbox / sample-data request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Technical / Data Lead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Day 1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Decision Maker &amp; Champion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Align with national malaria priorities; present the forecast approach; agree pilot milestones.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Short executive briefing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Team Lead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Day 1 / Mid-point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Approver / Regulator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Check data privacy, ethics &amp; the human sign-off on each alert.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Policy/compliance review + privacy &amp; human-oversight demo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Policy / Risk Lead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Day 2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Secondary Users / Blocker Group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Manage change; gather feedback &amp; operational concerns.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Workshop / Q&amp;A session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Change / Comms Lead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Incubation phase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