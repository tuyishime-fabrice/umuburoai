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20116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0284C7"/>
                </a:solidFill>
                <a:latin typeface="Verdana"/>
              </a:defRPr>
            </a:pPr>
            <a:r>
              <a:t>ANNEX D - SOLUTION &amp; TECHNICAL ARCHITECTURE CANVAS</a:t>
            </a:r>
          </a:p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t>Day 2 Solution Feasibility &amp; Prototype Architecture Template</a:t>
            </a:r>
          </a:p>
          <a:p>
            <a:pPr>
              <a:defRPr sz="1200">
                <a:solidFill>
                  <a:srgbClr val="E2E8F0"/>
                </a:solidFill>
                <a:latin typeface="Verdana"/>
              </a:defRPr>
            </a:pPr>
            <a:r>
              <a:t>Translate the validated problem into the simplest feasible solution architecture and define what will actually be built during the hackathon.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017520"/>
            <a:ext cx="10728655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400" b="1">
                <a:solidFill>
                  <a:srgbClr val="0F4C81"/>
                </a:solidFill>
                <a:latin typeface="Verdana"/>
              </a:defRPr>
            </a:pPr>
            <a:r>
              <a:t>PARTICIPANT &amp; CHALLENGE METADATA (To be completed on Day 2)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E293B"/>
                </a:solidFill>
                <a:latin typeface="Verdana"/>
              </a:rPr>
              <a:t>Team Name / ID:                </a:t>
            </a:r>
            <a:r>
              <a:rPr sz="1200">
                <a:solidFill>
                  <a:srgbClr val="64748B"/>
                </a:solidFill>
                <a:latin typeface="Verdana"/>
              </a:rPr>
              <a:t>CodeNova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E293B"/>
                </a:solidFill>
                <a:latin typeface="Verdana"/>
              </a:rPr>
              <a:t>Challenge Title:               </a:t>
            </a:r>
            <a:r>
              <a:rPr sz="1200">
                <a:solidFill>
                  <a:srgbClr val="64748B"/>
                </a:solidFill>
                <a:latin typeface="Verdana"/>
              </a:rPr>
              <a:t>Malaria outbreaks are often identified only after cases rise, leaving limited time for response.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E293B"/>
                </a:solidFill>
                <a:latin typeface="Verdana"/>
              </a:rPr>
              <a:t>Challenge-Owning Institution:  </a:t>
            </a:r>
            <a:r>
              <a:rPr sz="1200">
                <a:solidFill>
                  <a:srgbClr val="64748B"/>
                </a:solidFill>
                <a:latin typeface="Verdana"/>
              </a:rPr>
              <a:t>Rwanda Biomedical Centre (RBC)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E293B"/>
                </a:solidFill>
                <a:latin typeface="Verdana"/>
              </a:rPr>
              <a:t>Technical Mentor / Trainer:    </a:t>
            </a:r>
            <a:r>
              <a:rPr sz="1200">
                <a:solidFill>
                  <a:srgbClr val="64748B"/>
                </a:solidFill>
                <a:latin typeface="Verdana"/>
              </a:rPr>
              <a:t>Assigned hackathon technical mentor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E293B"/>
                </a:solidFill>
                <a:latin typeface="Verdana"/>
              </a:rPr>
              <a:t>Date &amp; Hackathon Stage:        </a:t>
            </a:r>
            <a:r>
              <a:rPr sz="1200">
                <a:solidFill>
                  <a:srgbClr val="64748B"/>
                </a:solidFill>
                <a:latin typeface="Verdana"/>
              </a:rPr>
              <a:t>30 September 2026 · Day 2 Feasibility Clinic, UR UNIPOD (CST)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695" y="162000"/>
            <a:ext cx="900000" cy="8595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ANNEX D - SOLUTION &amp; TECHNICAL ARCHITECTURE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D1. Solution Choice, AI Justification &amp; Scope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25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36576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Verdana"/>
              </a:defRPr>
            </a:pPr>
            <a:r>
              <a:t>PROPOSED SOLUTION IN ONE SENTENCE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54335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t>Umuburo AI is an AI layer over Rwanda's malaria surveillance that predicts &amp; localises abnormal case patterns (district → sector → cell → village) and turns the lead time into a ranked, pre-season prevention plan — with verify-before-act human oversight.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338328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3383280" cy="36576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Verdana"/>
              </a:defRPr>
            </a:pPr>
            <a:r>
              <a:t>AI/ML ROLE &amp; JUSTIFICATION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3108960" cy="32918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t>• What AI/ML does exactly:</a:t>
            </a:r>
            <a:br/>
            <a:r>
              <a:t>Seasonal baseline + anomaly detection (control-chart z-score) + ridge-regression 1-4 week forecast using case lags, 8-week-lagged rainfall, temperature &amp; seasonality; explainable risk fusion.</a:t>
            </a:r>
            <a:br/>
            <a:br/>
            <a:r>
              <a:t>• Why AI is appropriate:</a:t>
            </a:r>
            <a:br/>
            <a:r>
              <a:t>Rules alone fire late &amp; rigidly. ML separates true anomalies from seasonality &amp; the resurgence, forecasts ahead, and localises — earlier, finer, adaptive.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651760"/>
            <a:ext cx="338328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2651760"/>
            <a:ext cx="3383280" cy="36576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Verdana"/>
              </a:defRPr>
            </a:pPr>
            <a:r>
              <a:t>NON-AI ALTERNATIVE CONSIDERED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063240"/>
            <a:ext cx="3108960" cy="32918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t>• Simpler non-AI alternative:</a:t>
            </a:r>
            <a:br/>
            <a:r>
              <a:t>WHO threshold (mean + 2 SD) already used by RBC; spreadsheets of weekly counts.</a:t>
            </a:r>
            <a:br/>
            <a:br/>
            <a:r>
              <a:t>• Reason not selected:</a:t>
            </a:r>
            <a:br/>
            <a:r>
              <a:t>Signals only after cases rise, distorted by outliers, no localisation below district, no forecast or prevention targeting.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651760"/>
            <a:ext cx="338328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2651760"/>
            <a:ext cx="3383280" cy="365760"/>
          </a:xfrm>
          <a:prstGeom prst="roundRect">
            <a:avLst/>
          </a:prstGeom>
          <a:solidFill>
            <a:srgbClr val="94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Verdana"/>
              </a:defRPr>
            </a:pPr>
            <a:r>
              <a:t>EXPLICITLY OUT OF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3063240"/>
            <a:ext cx="3108960" cy="32918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t>• Hackathon Out-of-Scope Items:</a:t>
            </a:r>
            <a:br/>
            <a:r>
              <a:t>Excluded from the hackathon build:</a:t>
            </a:r>
            <a:br/>
            <a:br/>
            <a:r>
              <a:t>- Live write-back to DHIS2 / eLMIS (prototype is read-only)</a:t>
            </a:r>
            <a:br/>
            <a:r>
              <a:t>- Patient-level / personal-data (PII) processing</a:t>
            </a:r>
            <a:br/>
            <a:r>
              <a:t>- Native mobile app &amp; SMS-gateway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ANNEX D - SOLUTION &amp; TECHNICAL ARCHITECTURE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D1. Primary User Journey &amp; Hackathon Prototype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25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36576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Verdana"/>
              </a:defRPr>
            </a:pPr>
            <a:r>
              <a:t>PRIMARY USER JOURNEY (START TO OUTCOME)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93776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t>Step 1: Trigger / User Entry</a:t>
            </a:r>
            <a:br/>
            <a:r>
              <a:t>Officer signs in — role-based access shows only their authorised scope (national / district / sector).</a:t>
            </a:r>
            <a:br/>
            <a:br/>
            <a:r>
              <a:t>Step 2: Core Interaction &amp; Processing</a:t>
            </a:r>
            <a:br/>
            <a:r>
              <a:t>Weekly DHIS2/RapidSMS + climate data are ingested; the model computes baseline, anomaly &amp; forecast.</a:t>
            </a:r>
            <a:br/>
            <a:br/>
            <a:r>
              <a:t>Step 3: AI / Logic Output</a:t>
            </a:r>
            <a:br/>
            <a:r>
              <a:t>A risk map + ranked alerts with drivers appear; the officer drills district → sector → cell → village.</a:t>
            </a:r>
            <a:br/>
            <a:br/>
            <a:r>
              <a:t>Step 4: Operational Action &amp; Outcome</a:t>
            </a:r>
            <a:br/>
            <a:r>
              <a:t>Verify-before-act: confirm the signal &amp; stock, then deploy CHW surge / IRS / nets.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4225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36576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Verdana"/>
              </a:defRPr>
            </a:pPr>
            <a:r>
              <a:t>MAIN FEATURES REQUIRED FOR HACKATHON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4967935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t>• Feature 1 (Must-Have Input/UI):</a:t>
            </a:r>
            <a:br/>
            <a:r>
              <a:t>Role-based dashboard with a Nation → village drill-down map &amp; tables.</a:t>
            </a:r>
            <a:br/>
            <a:br/>
            <a:r>
              <a:t>• Feature 2 (Core Processing/Intelligence):</a:t>
            </a:r>
            <a:br/>
            <a:r>
              <a:t>Anomaly + ridge-forecast + explainable risk engine (Python).</a:t>
            </a:r>
            <a:br/>
            <a:br/>
            <a:r>
              <a:t>• Feature 3 (Output / Action View):</a:t>
            </a:r>
            <a:br/>
            <a:r>
              <a:t>Alert cards with drivers + a pre-season resource-allocation plan.</a:t>
            </a:r>
            <a:br/>
            <a:br/>
            <a:r>
              <a:t>• Feature 4 (Human Oversight Mechanism):</a:t>
            </a:r>
            <a:br/>
            <a:r>
              <a:t>Verify-before-act checklist + audit log for every action.</a:t>
            </a:r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695" y="162000"/>
            <a:ext cx="900000" cy="8595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ANNEX D - SOLUTION &amp; TECHNICAL ARCHITECTURE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D2. Technical Architecture Blueprint &amp; Component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25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468880"/>
                <a:gridCol w="3108960"/>
                <a:gridCol w="2590495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Architecture Layer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Proposed Choice / Tech Stack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Purpose in Prototype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Key Dependency / Risk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User Interface / Frontend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HTML + Tailwind + vanilla JS (offline)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Role-based dashboard, drill-down, SVG charts &amp; map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Browser only; no PII in client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Backend / Application Logic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Python (prototype) → FastAPI (production)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Data pipeline, model, JSON API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Runtime; scheduled ingestion jobs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AI Model / API / Rules Engine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Python: seasonal baseline, z-score anomaly, ridge regression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Predict &amp; localise abnormal patterns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Data quality; upgrade path to GBM/LSTM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Database / Storage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CSV/JSON (prototype) → PostgreSQL/TimescaleDB (prod)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Surveillance series, model outputs, audit log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Schema readiness; secure storage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External APIs / Integrations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DHIS2/HMIS, RapidSMS, IDSR, eLMIS, NASA/NOAA climate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Authorised data feeds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Data-sharing agreement; API access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Hosting / Runtime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Local/offline demo → MoH/RBC environment (prod)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Execution inside authorised environment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Connectivity; deployment approval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Authentication / Authorization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Demo role selector → MoH SSO + RBAC (prod)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Scope enforcement per role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Credential &amp; session security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Logging &amp; Audit Trail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Alert / verification / action logger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Accountability &amp; traceability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Log retention &amp; storage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Human Oversight Point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Verify-before-act checklist + override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Human confirms before any action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Officer availability &amp; training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ANNEX D - SOLUTION &amp; TECHNICAL ARCHITECTURE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D3. Data Flow Pipeline &amp; MVP Delivery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25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36576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Verdana"/>
              </a:defRPr>
            </a:pPr>
            <a:r>
              <a:t>END-TO-END DATA FLOW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54335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t>Source Data (DHIS2/HMIS + RapidSMS + IDSR cases + eLMIS stock + NASA/NOAA climate)  ➔  Processing (epi-week aggregation, lags, 8-wk rainfall lag, seasonal index)  ➔  Model (baseline + anomaly + ridge forecast + risk)  ➔  Output (risk/forecast/alerts/allocation JSON)  ➔  User (dashboard: district → village)</a:t>
            </a:r>
            <a:br/>
            <a:br/>
            <a:r>
              <a:t>Inputs are weekly per district &amp; sector; outputs are risk level, anomaly z-score, 1-4 week forecast and a ranked prevention plan, drillable to cell &amp; village.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3383280" cy="36576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Verdana"/>
              </a:defRPr>
            </a:pPr>
            <a:r>
              <a:t>MINIMUM VIABLE DEMO (END OF DAY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11880"/>
            <a:ext cx="310896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t>• Core Requirement:</a:t>
            </a:r>
            <a:br/>
            <a:r>
              <a:t>Working end-to-end: RBC-calibrated data → AI pipeline → dashboard showing Huye HIGH with sector→cell→village drill-down.</a:t>
            </a:r>
            <a:br/>
            <a:br/>
            <a:r>
              <a:t>• Target Milestone:</a:t>
            </a:r>
            <a:br/>
            <a:r>
              <a:t>  - Working end-to-end user input to output</a:t>
            </a:r>
            <a:br/>
            <a:r>
              <a:t>  - Synthetic or sample data loaded</a:t>
            </a:r>
            <a:br/>
            <a:r>
              <a:t>  - Basic UI displaying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20040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3200400"/>
            <a:ext cx="3383280" cy="36576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Verdana"/>
              </a:defRPr>
            </a:pPr>
            <a:r>
              <a:t>MINIMUM VIABLE PROTOTYPE (FINAL JUDGING)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611880"/>
            <a:ext cx="310896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t>• Core Requirement:</a:t>
            </a:r>
            <a:br/>
            <a:r>
              <a:t>Role-based dashboard, village-level drill-down, verify-before-act alerts, prevention allocation &amp; climate — all live.</a:t>
            </a:r>
            <a:br/>
            <a:br/>
            <a:r>
              <a:t>• Target Milestone:</a:t>
            </a:r>
            <a:br/>
            <a:r>
              <a:t>  - Refined user interface</a:t>
            </a:r>
            <a:br/>
            <a:r>
              <a:t>  - Validated AI/rules accuracy</a:t>
            </a:r>
            <a:br/>
            <a:r>
              <a:t>  - Edge-case handling &amp; human override demo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20040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3200400"/>
            <a:ext cx="338328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Verdana"/>
              </a:defRPr>
            </a:pPr>
            <a:r>
              <a:t>TECHNICAL DEPENDENCIES &amp; FALLBACK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3611880"/>
            <a:ext cx="310896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t>• Key Dependency:</a:t>
            </a:r>
            <a:br/>
            <a:r>
              <a:t>Authorised DHIS2/eLMIS access; climate API.</a:t>
            </a:r>
            <a:br/>
            <a:br/>
            <a:r>
              <a:t>• Fallback Plan:</a:t>
            </a:r>
            <a:br/>
            <a:r>
              <a:t>Prototype runs on an RBC-calibrated local dataset with no external calls — the demo is never blocked; production swaps only the data loader.</a:t>
            </a:r>
          </a:p>
        </p:txBody>
      </p:sp>
      <p:pic>
        <p:nvPicPr>
          <p:cNvPr id="17" name="Picture 1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695" y="162000"/>
            <a:ext cx="900000" cy="8595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