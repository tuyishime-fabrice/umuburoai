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28487" y="544272"/>
            <a:ext cx="10734721" cy="1649563"/>
          </a:xfrm>
          <a:prstGeom prst="rect">
            <a:avLst/>
          </a:prstGeom>
          <a:solidFill>
            <a:srgbClr val="0F172A"/>
          </a:solidFill>
          <a:ln w="12700">
            <a:solidFill>
              <a:srgbClr val="0F172A"/>
            </a:solidFill>
            <a:prstDash val="solid"/>
          </a:ln>
          <a:effectLst>
            <a:outerShdw blurRad="50800" dist="25400" dir="5400000" algn="bl" rotWithShape="0">
              <a:srgbClr val="94A3B8">
                <a:alpha val="45000"/>
              </a:srgbClr>
            </a:outerShdw>
          </a:effectLst>
        </p:spPr>
      </p:sp>
      <p:sp>
        <p:nvSpPr>
          <p:cNvPr id="3" name="Text 1"/>
          <p:cNvSpPr txBox="1"/>
          <p:nvPr/>
        </p:nvSpPr>
        <p:spPr>
          <a:xfrm>
            <a:off x="728487" y="988063"/>
            <a:ext cx="10734721" cy="274320"/>
          </a:xfrm>
          <a:prstGeom prst="rect">
            <a:avLst/>
          </a:prstGeom>
          <a:noFill/>
        </p:spPr>
        <p:txBody>
          <a:bodyPr wrap="square" lIns="0" tIns="0" rIns="0" bIns="0" rtlCol="0" anchor="ctr"/>
          <a:lstStyle/>
          <a:p>
            <a:pPr marL="0" indent="0" algn="ctr">
              <a:buNone/>
            </a:pPr>
            <a:r>
              <a:rPr lang="en-US" sz="1300" b="1" dirty="0">
                <a:solidFill>
                  <a:srgbClr val="D97706"/>
                </a:solidFill>
                <a:latin typeface="Arial" panose="020B0704020202020204" pitchFamily="34" charset="0"/>
                <a:ea typeface="Arial" panose="020B0704020202020204" pitchFamily="34" charset="-122"/>
                <a:cs typeface="Arial" panose="020B0704020202020204" pitchFamily="34" charset="-120"/>
              </a:rPr>
              <a:t>PROBLEM FRAMING CANVAS</a:t>
            </a:r>
            <a:endParaRPr lang="en-US" sz="1300" dirty="0"/>
          </a:p>
        </p:txBody>
      </p:sp>
      <p:sp>
        <p:nvSpPr>
          <p:cNvPr id="4" name="Text 2"/>
          <p:cNvSpPr txBox="1"/>
          <p:nvPr/>
        </p:nvSpPr>
        <p:spPr>
          <a:xfrm>
            <a:off x="1088544" y="1256013"/>
            <a:ext cx="10048100" cy="548640"/>
          </a:xfrm>
          <a:prstGeom prst="rect">
            <a:avLst/>
          </a:prstGeom>
          <a:noFill/>
        </p:spPr>
        <p:txBody>
          <a:bodyPr wrap="square" lIns="0" tIns="0" rIns="0" bIns="0" rtlCol="0" anchor="ctr"/>
          <a:lstStyle/>
          <a:p>
            <a:pPr marL="0" indent="0">
              <a:buNone/>
            </a:pPr>
            <a:r>
              <a:rPr lang="en-US" sz="3000" b="1" dirty="0">
                <a:solidFill>
                  <a:srgbClr val="FFFFFF"/>
                </a:solidFill>
                <a:latin typeface="Georgia" panose="02040502050405090303" pitchFamily="34" charset="0"/>
                <a:ea typeface="Georgia" panose="02040502050405090303" pitchFamily="34" charset="-122"/>
                <a:cs typeface="Georgia" panose="02040502050405090303" pitchFamily="34" charset="-120"/>
              </a:rPr>
              <a:t>Challenge Validation &amp; Framing Template</a:t>
            </a:r>
            <a:endParaRPr lang="en-US" sz="3000" dirty="0"/>
          </a:p>
        </p:txBody>
      </p:sp>
      <p:sp>
        <p:nvSpPr>
          <p:cNvPr id="5" name="Text 3"/>
          <p:cNvSpPr txBox="1"/>
          <p:nvPr/>
        </p:nvSpPr>
        <p:spPr>
          <a:xfrm>
            <a:off x="1088544" y="1741671"/>
            <a:ext cx="10048100" cy="274320"/>
          </a:xfrm>
          <a:prstGeom prst="rect">
            <a:avLst/>
          </a:prstGeom>
          <a:noFill/>
        </p:spPr>
        <p:txBody>
          <a:bodyPr wrap="square" lIns="0" tIns="0" rIns="0" bIns="0" rtlCol="0" anchor="ctr"/>
          <a:lstStyle/>
          <a:p>
            <a:pPr marL="0" indent="0">
              <a:buNone/>
            </a:pPr>
            <a:r>
              <a:rPr lang="en-US" sz="1400" dirty="0">
                <a:solidFill>
                  <a:srgbClr val="CBD5E1"/>
                </a:solidFill>
                <a:latin typeface="Arial" panose="020B0704020202020204" pitchFamily="34" charset="0"/>
                <a:ea typeface="Arial" panose="020B0704020202020204" pitchFamily="34" charset="-122"/>
                <a:cs typeface="Arial" panose="020B0704020202020204" pitchFamily="34" charset="-120"/>
              </a:rPr>
              <a:t>Turn a validated challenge into a precise, evidence-based problem statement before solution design begins.</a:t>
            </a:r>
            <a:endParaRPr lang="en-US" sz="1400" dirty="0"/>
          </a:p>
        </p:txBody>
      </p:sp>
      <p:sp>
        <p:nvSpPr>
          <p:cNvPr id="6" name="Shape 4"/>
          <p:cNvSpPr/>
          <p:nvPr/>
        </p:nvSpPr>
        <p:spPr>
          <a:xfrm>
            <a:off x="728487" y="2470158"/>
            <a:ext cx="3391234" cy="778728"/>
          </a:xfrm>
          <a:prstGeom prst="roundRect">
            <a:avLst>
              <a:gd name="adj" fmla="val 17613"/>
            </a:avLst>
          </a:prstGeom>
          <a:solidFill>
            <a:srgbClr val="FFFFFF"/>
          </a:solidFill>
          <a:ln w="12700">
            <a:solidFill>
              <a:srgbClr val="CBD5E1"/>
            </a:solidFill>
            <a:prstDash val="solid"/>
          </a:ln>
          <a:effectLst>
            <a:outerShdw blurRad="50800" dist="25400" dir="5400000" algn="bl" rotWithShape="0">
              <a:srgbClr val="94A3B8">
                <a:alpha val="45000"/>
              </a:srgbClr>
            </a:outerShdw>
          </a:effectLst>
        </p:spPr>
      </p:sp>
      <p:sp>
        <p:nvSpPr>
          <p:cNvPr id="7" name="Text 5"/>
          <p:cNvSpPr txBox="1"/>
          <p:nvPr/>
        </p:nvSpPr>
        <p:spPr>
          <a:xfrm>
            <a:off x="865647" y="2515878"/>
            <a:ext cx="3116914" cy="687288"/>
          </a:xfrm>
          <a:prstGeom prst="rect">
            <a:avLst/>
          </a:prstGeom>
          <a:noFill/>
        </p:spPr>
        <p:txBody>
          <a:bodyPr wrap="square" lIns="0" tIns="0" rIns="0" bIns="0" rtlCol="0" anchor="ctr"/>
          <a:lstStyle/>
          <a:p>
            <a:pPr marL="0" indent="0" algn="ctr">
              <a:buNone/>
            </a:pPr>
            <a:r>
              <a:rPr lang="en-US" sz="1200" b="1" dirty="0">
                <a:solidFill>
                  <a:srgbClr val="2563EB"/>
                </a:solidFill>
                <a:latin typeface="Arial" panose="020B0704020202020204" pitchFamily="34" charset="0"/>
                <a:ea typeface="Arial" panose="020B0704020202020204" pitchFamily="34" charset="-122"/>
                <a:cs typeface="Arial" panose="020B0704020202020204" pitchFamily="34" charset="-120"/>
              </a:rPr>
              <a:t>TEAM NAME / ID</a:t>
            </a:r>
            <a:endParaRPr lang="en-US" sz="1200" dirty="0"/>
          </a:p>
          <a:p>
            <a:pPr marL="0" indent="0" algn="ctr">
              <a:buNone/>
            </a:pPr>
            <a:r>
              <a:rPr lang="en-US" sz="1300" dirty="0">
                <a:solidFill>
                  <a:srgbClr val="64748B"/>
                </a:solidFill>
                <a:latin typeface="Arial" panose="020B0704020202020204" pitchFamily="34" charset="0"/>
                <a:ea typeface="Arial" panose="020B0704020202020204" pitchFamily="34" charset="-122"/>
                <a:cs typeface="Arial" panose="020B0704020202020204" pitchFamily="34" charset="-120"/>
              </a:rPr>
              <a:t>CodeNova</a:t>
            </a:r>
            <a:endParaRPr lang="en-US" sz="1200" dirty="0"/>
          </a:p>
        </p:txBody>
      </p:sp>
      <p:sp>
        <p:nvSpPr>
          <p:cNvPr id="8" name="Shape 6"/>
          <p:cNvSpPr/>
          <p:nvPr/>
        </p:nvSpPr>
        <p:spPr>
          <a:xfrm>
            <a:off x="4387671" y="2470158"/>
            <a:ext cx="3391234" cy="778728"/>
          </a:xfrm>
          <a:prstGeom prst="roundRect">
            <a:avLst>
              <a:gd name="adj" fmla="val 17613"/>
            </a:avLst>
          </a:prstGeom>
          <a:solidFill>
            <a:srgbClr val="FFFFFF"/>
          </a:solidFill>
          <a:ln w="12700">
            <a:solidFill>
              <a:srgbClr val="CBD5E1"/>
            </a:solidFill>
            <a:prstDash val="solid"/>
          </a:ln>
          <a:effectLst>
            <a:outerShdw blurRad="50800" dist="25400" dir="5400000" algn="bl" rotWithShape="0">
              <a:srgbClr val="94A3B8">
                <a:alpha val="45000"/>
              </a:srgbClr>
            </a:outerShdw>
          </a:effectLst>
        </p:spPr>
      </p:sp>
      <p:sp>
        <p:nvSpPr>
          <p:cNvPr id="9" name="Text 7"/>
          <p:cNvSpPr txBox="1"/>
          <p:nvPr/>
        </p:nvSpPr>
        <p:spPr>
          <a:xfrm>
            <a:off x="4524831" y="2515878"/>
            <a:ext cx="3116914" cy="687288"/>
          </a:xfrm>
          <a:prstGeom prst="rect">
            <a:avLst/>
          </a:prstGeom>
          <a:noFill/>
        </p:spPr>
        <p:txBody>
          <a:bodyPr wrap="square" lIns="0" tIns="0" rIns="0" bIns="0" rtlCol="0" anchor="ctr"/>
          <a:lstStyle/>
          <a:p>
            <a:pPr marL="0" indent="0" algn="ctr">
              <a:buNone/>
            </a:pPr>
            <a:r>
              <a:rPr lang="en-US" sz="1200" b="1" dirty="0">
                <a:solidFill>
                  <a:srgbClr val="2563EB"/>
                </a:solidFill>
                <a:latin typeface="Arial" panose="020B0704020202020204" pitchFamily="34" charset="0"/>
                <a:ea typeface="Arial" panose="020B0704020202020204" pitchFamily="34" charset="-122"/>
                <a:cs typeface="Arial" panose="020B0704020202020204" pitchFamily="34" charset="-120"/>
              </a:rPr>
              <a:t>CHALLENGE TITLE</a:t>
            </a:r>
            <a:endParaRPr lang="en-US" sz="1200" dirty="0"/>
          </a:p>
          <a:p>
            <a:pPr marL="0" indent="0" algn="ctr">
              <a:buNone/>
            </a:pPr>
            <a:r>
              <a:rPr lang="en-US" sz="1150" dirty="0">
                <a:solidFill>
                  <a:srgbClr val="64748B"/>
                </a:solidFill>
                <a:latin typeface="Arial" panose="020B0704020202020204" pitchFamily="34" charset="0"/>
                <a:ea typeface="Arial" panose="020B0704020202020204" pitchFamily="34" charset="-122"/>
                <a:cs typeface="Arial" panose="020B0704020202020204" pitchFamily="34" charset="-120"/>
              </a:rPr>
              <a:t>Malaria outbreaks are often identified only after cases rise, leaving limited time for response.</a:t>
            </a:r>
            <a:endParaRPr lang="en-US" sz="1200" dirty="0"/>
          </a:p>
        </p:txBody>
      </p:sp>
      <p:sp>
        <p:nvSpPr>
          <p:cNvPr id="10" name="Shape 8"/>
          <p:cNvSpPr/>
          <p:nvPr/>
        </p:nvSpPr>
        <p:spPr>
          <a:xfrm>
            <a:off x="8046854" y="2470158"/>
            <a:ext cx="3391234" cy="778728"/>
          </a:xfrm>
          <a:prstGeom prst="roundRect">
            <a:avLst>
              <a:gd name="adj" fmla="val 17613"/>
            </a:avLst>
          </a:prstGeom>
          <a:solidFill>
            <a:srgbClr val="FFFFFF"/>
          </a:solidFill>
          <a:ln w="12700">
            <a:solidFill>
              <a:srgbClr val="CBD5E1"/>
            </a:solidFill>
            <a:prstDash val="solid"/>
          </a:ln>
          <a:effectLst>
            <a:outerShdw blurRad="50800" dist="25400" dir="5400000" algn="bl" rotWithShape="0">
              <a:srgbClr val="94A3B8">
                <a:alpha val="45000"/>
              </a:srgbClr>
            </a:outerShdw>
          </a:effectLst>
        </p:spPr>
      </p:sp>
      <p:sp>
        <p:nvSpPr>
          <p:cNvPr id="11" name="Text 9"/>
          <p:cNvSpPr txBox="1"/>
          <p:nvPr/>
        </p:nvSpPr>
        <p:spPr>
          <a:xfrm>
            <a:off x="8184014" y="2515878"/>
            <a:ext cx="3116914" cy="687288"/>
          </a:xfrm>
          <a:prstGeom prst="rect">
            <a:avLst/>
          </a:prstGeom>
          <a:noFill/>
        </p:spPr>
        <p:txBody>
          <a:bodyPr wrap="square" lIns="0" tIns="0" rIns="0" bIns="0" rtlCol="0" anchor="ctr"/>
          <a:lstStyle/>
          <a:p>
            <a:pPr marL="0" indent="0" algn="ctr">
              <a:buNone/>
            </a:pPr>
            <a:r>
              <a:rPr lang="en-US" sz="1200" b="1" dirty="0">
                <a:solidFill>
                  <a:srgbClr val="2563EB"/>
                </a:solidFill>
                <a:latin typeface="Arial" panose="020B0704020202020204" pitchFamily="34" charset="0"/>
                <a:ea typeface="Arial" panose="020B0704020202020204" pitchFamily="34" charset="-122"/>
                <a:cs typeface="Arial" panose="020B0704020202020204" pitchFamily="34" charset="-120"/>
              </a:rPr>
              <a:t>CHALLENGE-OWNING INSTITUTION</a:t>
            </a:r>
            <a:endParaRPr lang="en-US" sz="1200" dirty="0"/>
          </a:p>
          <a:p>
            <a:pPr marL="0" indent="0" algn="ctr">
              <a:buNone/>
            </a:pPr>
            <a:r>
              <a:rPr lang="en-US" sz="1300" dirty="0">
                <a:solidFill>
                  <a:srgbClr val="64748B"/>
                </a:solidFill>
                <a:latin typeface="Arial" panose="020B0704020202020204" pitchFamily="34" charset="0"/>
                <a:ea typeface="Arial" panose="020B0704020202020204" pitchFamily="34" charset="-122"/>
                <a:cs typeface="Arial" panose="020B0704020202020204" pitchFamily="34" charset="-120"/>
              </a:rPr>
              <a:t>RBC</a:t>
            </a:r>
            <a:endParaRPr lang="en-US" sz="1200" dirty="0"/>
          </a:p>
        </p:txBody>
      </p:sp>
      <p:sp>
        <p:nvSpPr>
          <p:cNvPr id="12" name="Shape 10"/>
          <p:cNvSpPr/>
          <p:nvPr/>
        </p:nvSpPr>
        <p:spPr>
          <a:xfrm>
            <a:off x="728487" y="3516835"/>
            <a:ext cx="5216639" cy="787101"/>
          </a:xfrm>
          <a:prstGeom prst="roundRect">
            <a:avLst>
              <a:gd name="adj" fmla="val 17426"/>
            </a:avLst>
          </a:prstGeom>
          <a:solidFill>
            <a:srgbClr val="FFFFFF"/>
          </a:solidFill>
          <a:ln w="12700">
            <a:solidFill>
              <a:srgbClr val="CBD5E1"/>
            </a:solidFill>
            <a:prstDash val="solid"/>
          </a:ln>
          <a:effectLst>
            <a:outerShdw blurRad="50800" dist="25400" dir="5400000" algn="bl" rotWithShape="0">
              <a:srgbClr val="94A3B8">
                <a:alpha val="45000"/>
              </a:srgbClr>
            </a:outerShdw>
          </a:effectLst>
        </p:spPr>
      </p:sp>
      <p:sp>
        <p:nvSpPr>
          <p:cNvPr id="13" name="Text 11"/>
          <p:cNvSpPr txBox="1"/>
          <p:nvPr/>
        </p:nvSpPr>
        <p:spPr>
          <a:xfrm>
            <a:off x="865647" y="3562555"/>
            <a:ext cx="4942319" cy="695661"/>
          </a:xfrm>
          <a:prstGeom prst="rect">
            <a:avLst/>
          </a:prstGeom>
          <a:noFill/>
        </p:spPr>
        <p:txBody>
          <a:bodyPr wrap="square" lIns="0" tIns="0" rIns="0" bIns="0" rtlCol="0" anchor="ctr"/>
          <a:lstStyle/>
          <a:p>
            <a:pPr marL="0" indent="0" algn="ctr">
              <a:buNone/>
            </a:pPr>
            <a:r>
              <a:rPr lang="en-US" sz="1200" b="1" dirty="0">
                <a:solidFill>
                  <a:srgbClr val="2563EB"/>
                </a:solidFill>
                <a:latin typeface="Arial" panose="020B0704020202020204" pitchFamily="34" charset="0"/>
                <a:ea typeface="Arial" panose="020B0704020202020204" pitchFamily="34" charset="-122"/>
                <a:cs typeface="Arial" panose="020B0704020202020204" pitchFamily="34" charset="-120"/>
              </a:rPr>
              <a:t>INSTITUTIONAL FOCAL PERSON</a:t>
            </a:r>
            <a:endParaRPr lang="en-US" sz="1200" dirty="0"/>
          </a:p>
          <a:p>
            <a:pPr marL="0" indent="0" algn="ctr">
              <a:buNone/>
            </a:pPr>
            <a:r>
              <a:rPr lang="en-US" sz="1300" dirty="0">
                <a:solidFill>
                  <a:srgbClr val="64748B"/>
                </a:solidFill>
                <a:latin typeface="Arial" panose="020B0704020202020204" pitchFamily="34" charset="0"/>
                <a:ea typeface="Arial" panose="020B0704020202020204" pitchFamily="34" charset="-122"/>
                <a:cs typeface="Arial" panose="020B0704020202020204" pitchFamily="34" charset="-120"/>
              </a:rPr>
              <a:t>IGIRANEZA Kevin SAFI</a:t>
            </a:r>
            <a:endParaRPr lang="en-US" sz="1200" dirty="0"/>
          </a:p>
        </p:txBody>
      </p:sp>
      <p:sp>
        <p:nvSpPr>
          <p:cNvPr id="14" name="Shape 12"/>
          <p:cNvSpPr/>
          <p:nvPr/>
        </p:nvSpPr>
        <p:spPr>
          <a:xfrm>
            <a:off x="6246569" y="3516835"/>
            <a:ext cx="5216639" cy="787101"/>
          </a:xfrm>
          <a:prstGeom prst="roundRect">
            <a:avLst>
              <a:gd name="adj" fmla="val 17426"/>
            </a:avLst>
          </a:prstGeom>
          <a:solidFill>
            <a:srgbClr val="FFFFFF"/>
          </a:solidFill>
          <a:ln w="12700">
            <a:solidFill>
              <a:srgbClr val="CBD5E1"/>
            </a:solidFill>
            <a:prstDash val="solid"/>
          </a:ln>
          <a:effectLst>
            <a:outerShdw blurRad="50800" dist="25400" dir="5400000" algn="bl" rotWithShape="0">
              <a:srgbClr val="94A3B8">
                <a:alpha val="45000"/>
              </a:srgbClr>
            </a:outerShdw>
          </a:effectLst>
        </p:spPr>
      </p:sp>
      <p:sp>
        <p:nvSpPr>
          <p:cNvPr id="15" name="Text 13"/>
          <p:cNvSpPr txBox="1"/>
          <p:nvPr/>
        </p:nvSpPr>
        <p:spPr>
          <a:xfrm>
            <a:off x="6383729" y="3562555"/>
            <a:ext cx="4942319" cy="695661"/>
          </a:xfrm>
          <a:prstGeom prst="rect">
            <a:avLst/>
          </a:prstGeom>
          <a:noFill/>
        </p:spPr>
        <p:txBody>
          <a:bodyPr wrap="square" lIns="0" tIns="0" rIns="0" bIns="0" rtlCol="0" anchor="ctr"/>
          <a:lstStyle/>
          <a:p>
            <a:pPr marL="0" indent="0" algn="ctr">
              <a:buNone/>
            </a:pPr>
            <a:r>
              <a:rPr lang="en-US" sz="1200" b="1" dirty="0">
                <a:solidFill>
                  <a:srgbClr val="2563EB"/>
                </a:solidFill>
                <a:latin typeface="Arial" panose="020B0704020202020204" pitchFamily="34" charset="0"/>
                <a:ea typeface="Arial" panose="020B0704020202020204" pitchFamily="34" charset="-122"/>
                <a:cs typeface="Arial" panose="020B0704020202020204" pitchFamily="34" charset="-120"/>
              </a:rPr>
              <a:t>DATE &amp; LOCATION</a:t>
            </a:r>
            <a:endParaRPr lang="en-US" sz="1200" dirty="0"/>
          </a:p>
          <a:p>
            <a:pPr marL="0" indent="0" algn="ctr">
              <a:buNone/>
            </a:pPr>
            <a:r>
              <a:rPr lang="en-US" sz="1300" dirty="0">
                <a:solidFill>
                  <a:srgbClr val="64748B"/>
                </a:solidFill>
                <a:latin typeface="Arial" panose="020B0704020202020204" pitchFamily="34" charset="0"/>
                <a:ea typeface="Arial" panose="020B0704020202020204" pitchFamily="34" charset="-122"/>
                <a:cs typeface="Arial" panose="020B0704020202020204" pitchFamily="34" charset="-120"/>
              </a:rPr>
              <a:t>29 September 2026, UR UNIPOD, CST Campus</a:t>
            </a:r>
            <a:endParaRPr lang="en-US" sz="1200" dirty="0"/>
          </a:p>
        </p:txBody>
      </p:sp>
      <p:sp>
        <p:nvSpPr>
          <p:cNvPr id="16" name="Shape 14"/>
          <p:cNvSpPr/>
          <p:nvPr/>
        </p:nvSpPr>
        <p:spPr>
          <a:xfrm>
            <a:off x="728487" y="4756101"/>
            <a:ext cx="10734721" cy="1456975"/>
          </a:xfrm>
          <a:prstGeom prst="roundRect">
            <a:avLst>
              <a:gd name="adj" fmla="val 18828"/>
            </a:avLst>
          </a:prstGeom>
          <a:solidFill>
            <a:srgbClr val="EFF6FF"/>
          </a:solidFill>
          <a:ln w="15875">
            <a:solidFill>
              <a:srgbClr val="2563EB"/>
            </a:solidFill>
            <a:prstDash val="solid"/>
          </a:ln>
          <a:effectLst>
            <a:outerShdw blurRad="50800" dist="25400" dir="5400000" algn="bl" rotWithShape="0">
              <a:srgbClr val="94A3B8">
                <a:alpha val="45000"/>
              </a:srgbClr>
            </a:outerShdw>
          </a:effectLst>
        </p:spPr>
      </p:sp>
      <p:sp>
        <p:nvSpPr>
          <p:cNvPr id="17" name="Text 15"/>
          <p:cNvSpPr txBox="1"/>
          <p:nvPr/>
        </p:nvSpPr>
        <p:spPr>
          <a:xfrm>
            <a:off x="728487" y="5149651"/>
            <a:ext cx="10734721" cy="274320"/>
          </a:xfrm>
          <a:prstGeom prst="rect">
            <a:avLst/>
          </a:prstGeom>
          <a:noFill/>
        </p:spPr>
        <p:txBody>
          <a:bodyPr wrap="square" lIns="0" tIns="0" rIns="0" bIns="0" rtlCol="0" anchor="ctr"/>
          <a:lstStyle/>
          <a:p>
            <a:pPr marL="0" indent="0" algn="ctr">
              <a:buNone/>
            </a:pPr>
            <a:r>
              <a:rPr lang="en-US" sz="1300" b="1" dirty="0">
                <a:solidFill>
                  <a:srgbClr val="0F172A"/>
                </a:solidFill>
                <a:latin typeface="Arial" panose="020B0704020202020204" pitchFamily="34" charset="0"/>
                <a:ea typeface="Arial" panose="020B0704020202020204" pitchFamily="34" charset="-122"/>
                <a:cs typeface="Arial" panose="020B0704020202020204" pitchFamily="34" charset="-120"/>
              </a:rPr>
              <a:t>WORKSHOP INSTRUCTIONS FOR PARTICIPANTS &amp; CHALLENGE OWNERS</a:t>
            </a:r>
            <a:endParaRPr lang="en-US" sz="1300" dirty="0"/>
          </a:p>
        </p:txBody>
      </p:sp>
      <p:sp>
        <p:nvSpPr>
          <p:cNvPr id="18" name="Text 16"/>
          <p:cNvSpPr txBox="1"/>
          <p:nvPr/>
        </p:nvSpPr>
        <p:spPr>
          <a:xfrm>
            <a:off x="962943" y="5425974"/>
            <a:ext cx="10215569" cy="640080"/>
          </a:xfrm>
          <a:prstGeom prst="rect">
            <a:avLst/>
          </a:prstGeom>
          <a:noFill/>
        </p:spPr>
        <p:txBody>
          <a:bodyPr wrap="square" lIns="0" tIns="0" rIns="0" bIns="0" rtlCol="0" anchor="t"/>
          <a:lstStyle/>
          <a:p>
            <a:pPr marL="342900" indent="-342900">
              <a:buSzPct val="100000"/>
              <a:buFont typeface="+mj-lt"/>
              <a:buAutoNum type="arabicPeriod"/>
            </a:pPr>
            <a:r>
              <a:rPr lang="en-US" sz="1100" dirty="0">
                <a:solidFill>
                  <a:srgbClr val="0F172A"/>
                </a:solidFill>
                <a:latin typeface="Arial" panose="020B0704020202020204" pitchFamily="34" charset="0"/>
                <a:ea typeface="Arial" panose="020B0704020202020204" pitchFamily="34" charset="-122"/>
                <a:cs typeface="Arial" panose="020B0704020202020204" pitchFamily="34" charset="-120"/>
              </a:rPr>
              <a:t>Work through Sections A1 to A3 collaboratively during Day 1 Problem Validation.</a:t>
            </a:r>
            <a:endParaRPr lang="en-US" sz="1100" dirty="0"/>
          </a:p>
          <a:p>
            <a:pPr marL="342900" indent="-342900">
              <a:buSzPct val="100000"/>
              <a:buFont typeface="+mj-lt"/>
              <a:buAutoNum type="arabicPeriod"/>
            </a:pPr>
            <a:r>
              <a:rPr lang="en-US" sz="1100" dirty="0">
                <a:solidFill>
                  <a:srgbClr val="0F172A"/>
                </a:solidFill>
                <a:latin typeface="Arial" panose="020B0704020202020204" pitchFamily="34" charset="0"/>
                <a:ea typeface="Arial" panose="020B0704020202020204" pitchFamily="34" charset="-122"/>
                <a:cs typeface="Arial" panose="020B0704020202020204" pitchFamily="34" charset="-120"/>
              </a:rPr>
              <a:t>Ensure all claims are backed by concrete observations, data, or user interviews (retained as evidence trail).</a:t>
            </a:r>
            <a:endParaRPr lang="en-US" sz="1100" dirty="0"/>
          </a:p>
          <a:p>
            <a:pPr marL="342900" indent="-342900">
              <a:buSzPct val="100000"/>
              <a:buFont typeface="+mj-lt"/>
              <a:buAutoNum type="arabicPeriod"/>
            </a:pPr>
            <a:r>
              <a:rPr lang="en-US" sz="1100" dirty="0">
                <a:solidFill>
                  <a:srgbClr val="0F172A"/>
                </a:solidFill>
                <a:latin typeface="Arial" panose="020B0704020202020204" pitchFamily="34" charset="0"/>
                <a:ea typeface="Arial" panose="020B0704020202020204" pitchFamily="34" charset="-122"/>
                <a:cs typeface="Arial" panose="020B0704020202020204" pitchFamily="34" charset="-120"/>
              </a:rPr>
              <a:t>Synthesize your findings into Slide 6 (Validated Problem Statement) for incubation handoff.</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28487" y="318190"/>
            <a:ext cx="7315200" cy="274320"/>
          </a:xfrm>
          <a:prstGeom prst="rect">
            <a:avLst/>
          </a:prstGeom>
          <a:noFill/>
        </p:spPr>
        <p:txBody>
          <a:bodyPr wrap="square" lIns="0" tIns="0" rIns="0" bIns="0" rtlCol="0" anchor="ctr"/>
          <a:lstStyle/>
          <a:p>
            <a:pPr marL="0" indent="0">
              <a:buNone/>
            </a:pPr>
            <a:r>
              <a:rPr lang="en-US" sz="1100" b="1" dirty="0">
                <a:solidFill>
                  <a:srgbClr val="2563EB"/>
                </a:solidFill>
                <a:latin typeface="Arial" panose="020B0704020202020204" pitchFamily="34" charset="0"/>
                <a:ea typeface="Arial" panose="020B0704020202020204" pitchFamily="34" charset="-122"/>
                <a:cs typeface="Arial" panose="020B0704020202020204" pitchFamily="34" charset="-120"/>
              </a:rPr>
              <a:t>PROBLEM FRAMING CANVAS • DAY 1</a:t>
            </a:r>
            <a:endParaRPr lang="en-US" sz="1100" dirty="0"/>
          </a:p>
        </p:txBody>
      </p:sp>
      <p:sp>
        <p:nvSpPr>
          <p:cNvPr id="3" name="Text 1"/>
          <p:cNvSpPr txBox="1"/>
          <p:nvPr/>
        </p:nvSpPr>
        <p:spPr>
          <a:xfrm>
            <a:off x="728487" y="602886"/>
            <a:ext cx="10734721" cy="502920"/>
          </a:xfrm>
          <a:prstGeom prst="rect">
            <a:avLst/>
          </a:prstGeom>
          <a:noFill/>
        </p:spPr>
        <p:txBody>
          <a:bodyPr wrap="square" lIns="0" tIns="0" rIns="0" bIns="0" rtlCol="0" anchor="ctr"/>
          <a:lstStyle/>
          <a:p>
            <a:pPr marL="0" indent="0">
              <a:buNone/>
            </a:pPr>
            <a:r>
              <a:rPr lang="en-US" sz="2200" b="1" dirty="0">
                <a:solidFill>
                  <a:srgbClr val="0F172A"/>
                </a:solidFill>
                <a:latin typeface="Georgia" panose="02040502050405090303" pitchFamily="34" charset="0"/>
                <a:ea typeface="Georgia" panose="02040502050405090303" pitchFamily="34" charset="-122"/>
                <a:cs typeface="Georgia" panose="02040502050405090303" pitchFamily="34" charset="-120"/>
              </a:rPr>
              <a:t>A1. Problem Definition — Users, Process &amp; Pain Points</a:t>
            </a:r>
            <a:endParaRPr lang="en-US" sz="2200" dirty="0"/>
          </a:p>
        </p:txBody>
      </p:sp>
      <p:sp>
        <p:nvSpPr>
          <p:cNvPr id="4" name="Shape 2"/>
          <p:cNvSpPr/>
          <p:nvPr/>
        </p:nvSpPr>
        <p:spPr>
          <a:xfrm>
            <a:off x="728487" y="1230892"/>
            <a:ext cx="10734721" cy="41148"/>
          </a:xfrm>
          <a:prstGeom prst="rect">
            <a:avLst/>
          </a:prstGeom>
          <a:solidFill>
            <a:srgbClr val="CBD5E1"/>
          </a:solidFill>
          <a:ln w="12700">
            <a:solidFill>
              <a:srgbClr val="CBD5E1"/>
            </a:solidFill>
            <a:prstDash val="solid"/>
          </a:ln>
        </p:spPr>
      </p:sp>
      <p:sp>
        <p:nvSpPr>
          <p:cNvPr id="5" name="Shape 3"/>
          <p:cNvSpPr/>
          <p:nvPr/>
        </p:nvSpPr>
        <p:spPr>
          <a:xfrm>
            <a:off x="728487"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6" name="Shape 4"/>
          <p:cNvSpPr/>
          <p:nvPr/>
        </p:nvSpPr>
        <p:spPr>
          <a:xfrm>
            <a:off x="728487" y="1465348"/>
            <a:ext cx="3391234" cy="393551"/>
          </a:xfrm>
          <a:prstGeom prst="roundRect">
            <a:avLst>
              <a:gd name="adj" fmla="val 16264"/>
            </a:avLst>
          </a:prstGeom>
          <a:solidFill>
            <a:srgbClr val="0F172A"/>
          </a:solidFill>
          <a:ln w="12700">
            <a:solidFill>
              <a:srgbClr val="0F172A"/>
            </a:solidFill>
            <a:prstDash val="solid"/>
          </a:ln>
        </p:spPr>
      </p:sp>
      <p:sp>
        <p:nvSpPr>
          <p:cNvPr id="7" name="Text 5"/>
          <p:cNvSpPr txBox="1"/>
          <p:nvPr/>
        </p:nvSpPr>
        <p:spPr>
          <a:xfrm>
            <a:off x="728487"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1. PRIMARY USER(S)</a:t>
            </a:r>
            <a:endParaRPr lang="en-US" sz="1300" dirty="0"/>
          </a:p>
        </p:txBody>
      </p:sp>
      <p:sp>
        <p:nvSpPr>
          <p:cNvPr id="8" name="Text 6"/>
          <p:cNvSpPr txBox="1"/>
          <p:nvPr/>
        </p:nvSpPr>
        <p:spPr>
          <a:xfrm>
            <a:off x="883935" y="1968627"/>
            <a:ext cx="3080338" cy="3960111"/>
          </a:xfrm>
          <a:prstGeom prst="rect">
            <a:avLst/>
          </a:prstGeom>
          <a:noFill/>
        </p:spPr>
        <p:txBody>
          <a:bodyPr wrap="square" lIns="0" tIns="0" rIns="0" bIns="0" rtlCol="0" anchor="t"/>
          <a:lstStyle/>
          <a:p>
            <a:pPr marL="0" indent="0">
              <a:spcAft>
                <a:spcPts val="300"/>
              </a:spcAft>
              <a:buNone/>
            </a:pPr>
            <a:r>
              <a:rPr lang="en-US" sz="1200" b="1" dirty="0">
                <a:solidFill>
                  <a:srgbClr val="0F172A"/>
                </a:solidFill>
                <a:latin typeface="Arial" panose="020B0704020202020204" pitchFamily="34" charset="0"/>
                <a:ea typeface="Arial" panose="020B0704020202020204" pitchFamily="34" charset="-122"/>
                <a:cs typeface="Arial" panose="020B0704020202020204" pitchFamily="34" charset="-120"/>
              </a:rPr>
              <a:t>Primary users: </a:t>
            </a: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Malaria and disease surveillance staff </a:t>
            </a:r>
            <a:r>
              <a:rPr lang="en-US" sz="500"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200" dirty="0"/>
          </a:p>
          <a:p>
            <a:pPr marL="0" indent="0">
              <a:spcAft>
                <a:spcPts val="300"/>
              </a:spcAft>
              <a:buNone/>
            </a:pPr>
            <a:r>
              <a:rPr lang="en-US" sz="1200" b="1" dirty="0">
                <a:solidFill>
                  <a:srgbClr val="0F172A"/>
                </a:solidFill>
                <a:latin typeface="Arial" panose="020B0704020202020204" pitchFamily="34" charset="0"/>
                <a:ea typeface="Arial" panose="020B0704020202020204" pitchFamily="34" charset="-122"/>
                <a:cs typeface="Arial" panose="020B0704020202020204" pitchFamily="34" charset="-120"/>
              </a:rPr>
              <a:t>Key characteristics &amp; context: </a:t>
            </a: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They monitor malaria cases reported from health facilities and track changes in malaria patterns across their districts.</a:t>
            </a:r>
            <a:endParaRPr lang="en-US" sz="1200" dirty="0"/>
          </a:p>
          <a:p>
            <a:pPr marL="0" indent="0">
              <a:spcAft>
                <a:spcPts val="300"/>
              </a:spcAft>
              <a:buNone/>
            </a:pPr>
            <a:r>
              <a:rPr lang="en-US" sz="500"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200" dirty="0"/>
          </a:p>
          <a:p>
            <a:pPr marL="0" indent="0">
              <a:spcAft>
                <a:spcPts val="300"/>
              </a:spcAft>
              <a:buNone/>
            </a:pPr>
            <a:r>
              <a:rPr lang="en-US" altLang="en-US" sz="1200" b="1" dirty="0"/>
              <a:t>Secondary users:</a:t>
            </a:r>
            <a:r>
              <a:rPr lang="en-US" altLang="en-US" sz="1200" dirty="0"/>
              <a:t> RBC's national malaria team, who oversee malaria surveillance across districts.</a:t>
            </a:r>
            <a:endParaRPr lang="en-US" altLang="en-US" sz="1200" dirty="0"/>
          </a:p>
        </p:txBody>
      </p:sp>
      <p:sp>
        <p:nvSpPr>
          <p:cNvPr id="9" name="Shape 7"/>
          <p:cNvSpPr/>
          <p:nvPr/>
        </p:nvSpPr>
        <p:spPr>
          <a:xfrm>
            <a:off x="4387671"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10" name="Shape 8"/>
          <p:cNvSpPr/>
          <p:nvPr/>
        </p:nvSpPr>
        <p:spPr>
          <a:xfrm>
            <a:off x="4387671" y="1465348"/>
            <a:ext cx="3391234" cy="393551"/>
          </a:xfrm>
          <a:prstGeom prst="roundRect">
            <a:avLst>
              <a:gd name="adj" fmla="val 16264"/>
            </a:avLst>
          </a:prstGeom>
          <a:solidFill>
            <a:srgbClr val="0F172A"/>
          </a:solidFill>
          <a:ln w="12700">
            <a:solidFill>
              <a:srgbClr val="0F172A"/>
            </a:solidFill>
            <a:prstDash val="solid"/>
          </a:ln>
        </p:spPr>
      </p:sp>
      <p:sp>
        <p:nvSpPr>
          <p:cNvPr id="11" name="Text 9"/>
          <p:cNvSpPr txBox="1"/>
          <p:nvPr/>
        </p:nvSpPr>
        <p:spPr>
          <a:xfrm>
            <a:off x="4387671"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2. CURRENT SITUATION</a:t>
            </a:r>
            <a:endParaRPr lang="en-US" sz="1300" dirty="0"/>
          </a:p>
        </p:txBody>
      </p:sp>
      <p:sp>
        <p:nvSpPr>
          <p:cNvPr id="12" name="Text 10"/>
          <p:cNvSpPr txBox="1"/>
          <p:nvPr/>
        </p:nvSpPr>
        <p:spPr>
          <a:xfrm>
            <a:off x="4543119" y="1968627"/>
            <a:ext cx="3080338" cy="3960111"/>
          </a:xfrm>
          <a:prstGeom prst="rect">
            <a:avLst/>
          </a:prstGeom>
          <a:noFill/>
        </p:spPr>
        <p:txBody>
          <a:bodyPr wrap="square" lIns="0" tIns="0" rIns="0" bIns="0" rtlCol="0" anchor="t"/>
          <a:lstStyle/>
          <a:p>
            <a:pPr marL="0" indent="0">
              <a:spcAft>
                <a:spcPts val="300"/>
              </a:spcAft>
              <a:buNone/>
            </a:pP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1. Health facilities and CHWs collect malaria information.</a:t>
            </a:r>
            <a:endParaRPr lang="en-US" sz="1200" dirty="0"/>
          </a:p>
          <a:p>
            <a:pPr marL="0" indent="0">
              <a:spcAft>
                <a:spcPts val="300"/>
              </a:spcAft>
              <a:buNone/>
            </a:pP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2. Data is reported through existing surveillance systems such as DHIS2.</a:t>
            </a:r>
            <a:endParaRPr lang="en-US" sz="1200" dirty="0"/>
          </a:p>
          <a:p>
            <a:pPr marL="0" indent="0">
              <a:spcAft>
                <a:spcPts val="300"/>
              </a:spcAft>
              <a:buNone/>
            </a:pP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3. District and national teams review malaria trends.</a:t>
            </a:r>
            <a:endParaRPr lang="en-US" sz="1200" dirty="0"/>
          </a:p>
          <a:p>
            <a:pPr marL="0" indent="0">
              <a:spcAft>
                <a:spcPts val="300"/>
              </a:spcAft>
              <a:buNone/>
            </a:pP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4. Unusual increases are identified through routine monitoring.</a:t>
            </a:r>
            <a:endParaRPr lang="en-US" sz="1200" dirty="0"/>
          </a:p>
          <a:p>
            <a:pPr marL="0" indent="0">
              <a:spcAft>
                <a:spcPts val="300"/>
              </a:spcAft>
              <a:buNone/>
            </a:pP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5. Teams investigate and coordinate a response.</a:t>
            </a:r>
            <a:endParaRPr lang="en-US" sz="1200" dirty="0"/>
          </a:p>
          <a:p>
            <a:pPr marL="0" indent="0">
              <a:spcAft>
                <a:spcPts val="300"/>
              </a:spcAft>
              <a:buNone/>
            </a:pPr>
            <a:r>
              <a:rPr lang="en-US" sz="500"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200" dirty="0"/>
          </a:p>
          <a:p>
            <a:pPr marL="0" indent="0">
              <a:spcAft>
                <a:spcPts val="300"/>
              </a:spcAft>
              <a:buNone/>
            </a:pPr>
            <a:r>
              <a:rPr lang="en-US" sz="1200" b="1" dirty="0">
                <a:solidFill>
                  <a:srgbClr val="0F172A"/>
                </a:solidFill>
                <a:latin typeface="Arial" panose="020B0704020202020204" pitchFamily="34" charset="0"/>
                <a:ea typeface="Arial" panose="020B0704020202020204" pitchFamily="34" charset="-122"/>
                <a:cs typeface="Arial" panose="020B0704020202020204" pitchFamily="34" charset="-120"/>
              </a:rPr>
              <a:t>Frequency &amp; volume: </a:t>
            </a: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Weekly malaria surveillance reporting; monthly routine HMIS reporting; pilot covers two districts. (Source: AI Use Case Portfolio)</a:t>
            </a:r>
            <a:endParaRPr lang="en-US" sz="1200" dirty="0"/>
          </a:p>
          <a:p>
            <a:pPr marL="0" indent="0">
              <a:spcAft>
                <a:spcPts val="300"/>
              </a:spcAft>
              <a:buNone/>
            </a:pPr>
            <a:r>
              <a:rPr lang="en-US" sz="500"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200" dirty="0"/>
          </a:p>
          <a:p>
            <a:pPr marL="0" indent="0">
              <a:spcAft>
                <a:spcPts val="300"/>
              </a:spcAft>
              <a:buNone/>
            </a:pPr>
            <a:r>
              <a:rPr lang="en-US" sz="1200" b="1" dirty="0">
                <a:solidFill>
                  <a:srgbClr val="0F172A"/>
                </a:solidFill>
                <a:latin typeface="Arial" panose="020B0704020202020204" pitchFamily="34" charset="0"/>
                <a:ea typeface="Arial" panose="020B0704020202020204" pitchFamily="34" charset="-122"/>
                <a:cs typeface="Arial" panose="020B0704020202020204" pitchFamily="34" charset="-120"/>
              </a:rPr>
              <a:t>Key actors involved: </a:t>
            </a: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CHWs, health facilities, district health/surveillance teams, RBC malaria/surveillance teams.</a:t>
            </a:r>
            <a:endParaRPr lang="en-US" sz="1200" dirty="0"/>
          </a:p>
        </p:txBody>
      </p:sp>
      <p:sp>
        <p:nvSpPr>
          <p:cNvPr id="13" name="Shape 11"/>
          <p:cNvSpPr/>
          <p:nvPr/>
        </p:nvSpPr>
        <p:spPr>
          <a:xfrm>
            <a:off x="8046854"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14" name="Shape 12"/>
          <p:cNvSpPr/>
          <p:nvPr/>
        </p:nvSpPr>
        <p:spPr>
          <a:xfrm>
            <a:off x="8046854" y="1465348"/>
            <a:ext cx="3391234" cy="393551"/>
          </a:xfrm>
          <a:prstGeom prst="roundRect">
            <a:avLst>
              <a:gd name="adj" fmla="val 16264"/>
            </a:avLst>
          </a:prstGeom>
          <a:solidFill>
            <a:srgbClr val="D97706"/>
          </a:solidFill>
          <a:ln w="12700">
            <a:solidFill>
              <a:srgbClr val="D97706"/>
            </a:solidFill>
            <a:prstDash val="solid"/>
          </a:ln>
        </p:spPr>
      </p:sp>
      <p:sp>
        <p:nvSpPr>
          <p:cNvPr id="15" name="Text 13"/>
          <p:cNvSpPr txBox="1"/>
          <p:nvPr/>
        </p:nvSpPr>
        <p:spPr>
          <a:xfrm>
            <a:off x="8046854"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3. PAIN POINTS &amp; BOTTLENECKS</a:t>
            </a:r>
            <a:endParaRPr lang="en-US" sz="1300" dirty="0"/>
          </a:p>
        </p:txBody>
      </p:sp>
      <p:sp>
        <p:nvSpPr>
          <p:cNvPr id="16" name="Text 14"/>
          <p:cNvSpPr txBox="1"/>
          <p:nvPr/>
        </p:nvSpPr>
        <p:spPr>
          <a:xfrm>
            <a:off x="8202302" y="1968627"/>
            <a:ext cx="3080338" cy="3960111"/>
          </a:xfrm>
          <a:prstGeom prst="rect">
            <a:avLst/>
          </a:prstGeom>
          <a:noFill/>
        </p:spPr>
        <p:txBody>
          <a:bodyPr wrap="square" lIns="0" tIns="0" rIns="0" bIns="0" rtlCol="0" anchor="t"/>
          <a:lstStyle/>
          <a:p>
            <a:pPr marL="0" indent="0">
              <a:spcAft>
                <a:spcPts val="300"/>
              </a:spcAft>
              <a:buNone/>
            </a:pPr>
            <a:r>
              <a:rPr lang="en-US" sz="1200" b="1" dirty="0">
                <a:solidFill>
                  <a:srgbClr val="0F172A"/>
                </a:solidFill>
                <a:latin typeface="Arial" panose="020B0704020202020204" pitchFamily="34" charset="0"/>
                <a:ea typeface="Arial" panose="020B0704020202020204" pitchFamily="34" charset="-122"/>
                <a:cs typeface="Arial" panose="020B0704020202020204" pitchFamily="34" charset="-120"/>
              </a:rPr>
              <a:t>Major failure point / bottleneck: </a:t>
            </a: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The issue is not a lack of malaria data. Abnormal malaria patterns may only become apparent after cases have already risen, which reduces the time available for investigation and response.</a:t>
            </a:r>
            <a:endParaRPr lang="en-US" sz="1200" dirty="0"/>
          </a:p>
          <a:p>
            <a:pPr marL="0" indent="0">
              <a:spcAft>
                <a:spcPts val="300"/>
              </a:spcAft>
              <a:buNone/>
            </a:pPr>
            <a:r>
              <a:rPr lang="en-US" sz="500"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200" dirty="0"/>
          </a:p>
          <a:p>
            <a:pPr marL="0" indent="0">
              <a:spcAft>
                <a:spcPts val="300"/>
              </a:spcAft>
              <a:buNone/>
            </a:pPr>
            <a:r>
              <a:rPr lang="en-US" sz="1200" b="1" dirty="0">
                <a:solidFill>
                  <a:srgbClr val="0F172A"/>
                </a:solidFill>
                <a:latin typeface="Arial" panose="020B0704020202020204" pitchFamily="34" charset="0"/>
                <a:ea typeface="Arial" panose="020B0704020202020204" pitchFamily="34" charset="-122"/>
                <a:cs typeface="Arial" panose="020B0704020202020204" pitchFamily="34" charset="-120"/>
              </a:rPr>
              <a:t>Impact on user: </a:t>
            </a: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Less time to investigate and prepare a response once a rise is noticed.</a:t>
            </a:r>
            <a:endParaRPr lang="en-US" sz="1200" dirty="0"/>
          </a:p>
          <a:p>
            <a:pPr marL="0" indent="0">
              <a:spcAft>
                <a:spcPts val="300"/>
              </a:spcAft>
              <a:buNone/>
            </a:pPr>
            <a:r>
              <a:rPr lang="en-US" sz="500"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200" dirty="0"/>
          </a:p>
          <a:p>
            <a:pPr marL="0" indent="0">
              <a:spcAft>
                <a:spcPts val="300"/>
              </a:spcAft>
              <a:buNone/>
            </a:pPr>
            <a:r>
              <a:rPr lang="en-US" sz="1200" b="1" dirty="0">
                <a:solidFill>
                  <a:srgbClr val="0F172A"/>
                </a:solidFill>
                <a:latin typeface="Arial" panose="020B0704020202020204" pitchFamily="34" charset="0"/>
                <a:ea typeface="Arial" panose="020B0704020202020204" pitchFamily="34" charset="-122"/>
                <a:cs typeface="Arial" panose="020B0704020202020204" pitchFamily="34" charset="-120"/>
              </a:rPr>
              <a:t>Impact on institution: </a:t>
            </a:r>
            <a:r>
              <a:rPr lang="en-US" sz="1200" dirty="0">
                <a:solidFill>
                  <a:srgbClr val="334155"/>
                </a:solidFill>
                <a:latin typeface="Arial" panose="020B0704020202020204" pitchFamily="34" charset="0"/>
                <a:ea typeface="Arial" panose="020B0704020202020204" pitchFamily="34" charset="-122"/>
                <a:cs typeface="Arial" panose="020B0704020202020204" pitchFamily="34" charset="-120"/>
              </a:rPr>
              <a:t>Responses such as spraying can start during or after the transmission peak, and unexpected upsurges have caused stockouts of malaria drugs and tests (RBC annual report FY 2023/24).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28487" y="318190"/>
            <a:ext cx="7315200" cy="274320"/>
          </a:xfrm>
          <a:prstGeom prst="rect">
            <a:avLst/>
          </a:prstGeom>
          <a:noFill/>
        </p:spPr>
        <p:txBody>
          <a:bodyPr wrap="square" lIns="0" tIns="0" rIns="0" bIns="0" rtlCol="0" anchor="ctr"/>
          <a:lstStyle/>
          <a:p>
            <a:pPr marL="0" indent="0">
              <a:buNone/>
            </a:pPr>
            <a:r>
              <a:rPr lang="en-US" sz="1100" b="1" dirty="0">
                <a:solidFill>
                  <a:srgbClr val="2563EB"/>
                </a:solidFill>
                <a:latin typeface="Arial" panose="020B0704020202020204" pitchFamily="34" charset="0"/>
                <a:ea typeface="Arial" panose="020B0704020202020204" pitchFamily="34" charset="-122"/>
                <a:cs typeface="Arial" panose="020B0704020202020204" pitchFamily="34" charset="-120"/>
              </a:rPr>
              <a:t>PROBLEM FRAMING CANVAS • DAY 1</a:t>
            </a:r>
            <a:endParaRPr lang="en-US" sz="1100" dirty="0"/>
          </a:p>
        </p:txBody>
      </p:sp>
      <p:sp>
        <p:nvSpPr>
          <p:cNvPr id="3" name="Text 1"/>
          <p:cNvSpPr txBox="1"/>
          <p:nvPr/>
        </p:nvSpPr>
        <p:spPr>
          <a:xfrm>
            <a:off x="728487" y="602886"/>
            <a:ext cx="10734721" cy="502920"/>
          </a:xfrm>
          <a:prstGeom prst="rect">
            <a:avLst/>
          </a:prstGeom>
          <a:noFill/>
        </p:spPr>
        <p:txBody>
          <a:bodyPr wrap="square" lIns="0" tIns="0" rIns="0" bIns="0" rtlCol="0" anchor="ctr"/>
          <a:lstStyle/>
          <a:p>
            <a:pPr marL="0" indent="0">
              <a:buNone/>
            </a:pPr>
            <a:r>
              <a:rPr lang="en-US" sz="2200" b="1" dirty="0">
                <a:solidFill>
                  <a:srgbClr val="0F172A"/>
                </a:solidFill>
                <a:latin typeface="Georgia" panose="02040502050405090303" pitchFamily="34" charset="0"/>
                <a:ea typeface="Georgia" panose="02040502050405090303" pitchFamily="34" charset="-122"/>
                <a:cs typeface="Georgia" panose="02040502050405090303" pitchFamily="34" charset="-120"/>
              </a:rPr>
              <a:t>A1. Problem Definition — Evidence, Root Causes &amp; Prior Attempts</a:t>
            </a:r>
            <a:endParaRPr lang="en-US" sz="2200" dirty="0"/>
          </a:p>
        </p:txBody>
      </p:sp>
      <p:sp>
        <p:nvSpPr>
          <p:cNvPr id="4" name="Shape 2"/>
          <p:cNvSpPr/>
          <p:nvPr/>
        </p:nvSpPr>
        <p:spPr>
          <a:xfrm>
            <a:off x="728487" y="1230892"/>
            <a:ext cx="10734721" cy="41148"/>
          </a:xfrm>
          <a:prstGeom prst="rect">
            <a:avLst/>
          </a:prstGeom>
          <a:solidFill>
            <a:srgbClr val="CBD5E1"/>
          </a:solidFill>
          <a:ln w="12700">
            <a:solidFill>
              <a:srgbClr val="CBD5E1"/>
            </a:solidFill>
            <a:prstDash val="solid"/>
          </a:ln>
        </p:spPr>
      </p:sp>
      <p:sp>
        <p:nvSpPr>
          <p:cNvPr id="5" name="Shape 3"/>
          <p:cNvSpPr/>
          <p:nvPr/>
        </p:nvSpPr>
        <p:spPr>
          <a:xfrm>
            <a:off x="728487"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6" name="Shape 4"/>
          <p:cNvSpPr/>
          <p:nvPr/>
        </p:nvSpPr>
        <p:spPr>
          <a:xfrm>
            <a:off x="728487" y="1465348"/>
            <a:ext cx="3391234" cy="393551"/>
          </a:xfrm>
          <a:prstGeom prst="roundRect">
            <a:avLst>
              <a:gd name="adj" fmla="val 16264"/>
            </a:avLst>
          </a:prstGeom>
          <a:solidFill>
            <a:srgbClr val="0F172A"/>
          </a:solidFill>
          <a:ln w="12700">
            <a:solidFill>
              <a:srgbClr val="0F172A"/>
            </a:solidFill>
            <a:prstDash val="solid"/>
          </a:ln>
        </p:spPr>
      </p:sp>
      <p:sp>
        <p:nvSpPr>
          <p:cNvPr id="7" name="Text 5"/>
          <p:cNvSpPr txBox="1"/>
          <p:nvPr/>
        </p:nvSpPr>
        <p:spPr>
          <a:xfrm>
            <a:off x="728487"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4. EVIDENCE &amp; DATA</a:t>
            </a:r>
            <a:endParaRPr lang="en-US" sz="1300" dirty="0"/>
          </a:p>
        </p:txBody>
      </p:sp>
      <p:sp>
        <p:nvSpPr>
          <p:cNvPr id="8" name="Text 6"/>
          <p:cNvSpPr txBox="1"/>
          <p:nvPr/>
        </p:nvSpPr>
        <p:spPr>
          <a:xfrm>
            <a:off x="883935" y="1968627"/>
            <a:ext cx="3080338" cy="3960111"/>
          </a:xfrm>
          <a:prstGeom prst="rect">
            <a:avLst/>
          </a:prstGeom>
          <a:noFill/>
        </p:spPr>
        <p:txBody>
          <a:bodyPr wrap="square" lIns="0" tIns="0" rIns="0" bIns="0" rtlCol="0" anchor="t"/>
          <a:lstStyle/>
          <a:p>
            <a:pPr marL="0" algn="l">
              <a:spcAft>
                <a:spcPts val="300"/>
              </a:spcAft>
              <a:buClrTx/>
              <a:buSzTx/>
              <a:buFontTx/>
              <a:buNone/>
            </a:pPr>
            <a:r>
              <a:rPr lang="en-US" altLang="en-US" sz="1150" b="1" i="1" dirty="0">
                <a:solidFill>
                  <a:srgbClr val="334155"/>
                </a:solidFill>
                <a:latin typeface="Arial Bold Italic" panose="020B0704020202020204" charset="0"/>
                <a:ea typeface="Arial" panose="020B0704020202020204" pitchFamily="34" charset="-122"/>
                <a:cs typeface="Arial Bold Italic" panose="020B0704020202020204" charset="0"/>
              </a:rPr>
              <a:t>Quantitative evidence:</a:t>
            </a:r>
            <a:endParaRPr lang="en-US" altLang="en-US" sz="1150" b="1" i="1" dirty="0">
              <a:solidFill>
                <a:srgbClr val="334155"/>
              </a:solidFill>
              <a:latin typeface="Arial Bold Italic" panose="020B0704020202020204" charset="0"/>
              <a:ea typeface="Arial" panose="020B0704020202020204" pitchFamily="34" charset="-122"/>
              <a:cs typeface="Arial Bold Italic" panose="020B0704020202020204" charset="0"/>
            </a:endParaRPr>
          </a:p>
          <a:p>
            <a:pPr marL="0" algn="l">
              <a:spcAft>
                <a:spcPts val="300"/>
              </a:spcAft>
              <a:buClrTx/>
              <a:buSzTx/>
              <a:buFontTx/>
              <a:buNone/>
            </a:pPr>
            <a:r>
              <a:rPr lang="en-US" altLang="en-US" sz="1150" i="1" dirty="0">
                <a:solidFill>
                  <a:srgbClr val="334155"/>
                </a:solidFill>
                <a:latin typeface="Arial" panose="020B0704020202020204" pitchFamily="34" charset="0"/>
                <a:ea typeface="Arial" panose="020B0704020202020204" pitchFamily="34" charset="-122"/>
                <a:cs typeface="Arial" panose="020B0704020202020204" pitchFamily="34" charset="-120"/>
              </a:rPr>
              <a:t>- Malaria incidence rose from 45 to 76 per 1,000 in one year (FY 2023/24 to 2024/25), and total cases almost doubled to 1.13 million.</a:t>
            </a:r>
            <a:endParaRPr lang="en-US" altLang="en-US" sz="1150" i="1" dirty="0">
              <a:solidFill>
                <a:srgbClr val="334155"/>
              </a:solidFill>
              <a:latin typeface="Arial" panose="020B0704020202020204" pitchFamily="34" charset="0"/>
              <a:ea typeface="Arial" panose="020B0704020202020204" pitchFamily="34" charset="-122"/>
              <a:cs typeface="Arial" panose="020B0704020202020204" pitchFamily="34" charset="-120"/>
            </a:endParaRPr>
          </a:p>
          <a:p>
            <a:pPr marL="0" algn="l">
              <a:spcAft>
                <a:spcPts val="300"/>
              </a:spcAft>
              <a:buClrTx/>
              <a:buSzTx/>
              <a:buFontTx/>
              <a:buNone/>
            </a:pPr>
            <a:r>
              <a:rPr lang="en-US" altLang="en-US" sz="1150" i="1" dirty="0">
                <a:solidFill>
                  <a:srgbClr val="334155"/>
                </a:solidFill>
                <a:latin typeface="Arial" panose="020B0704020202020204" pitchFamily="34" charset="0"/>
                <a:ea typeface="Arial" panose="020B0704020202020204" pitchFamily="34" charset="-122"/>
                <a:cs typeface="Arial" panose="020B0704020202020204" pitchFamily="34" charset="-120"/>
              </a:rPr>
              <a:t>- Severe malaria cases rose by 50% to 1,969, with 67 deaths (FY 2023/24).</a:t>
            </a:r>
            <a:endParaRPr lang="en-US" altLang="en-US" sz="1150" i="1" dirty="0">
              <a:solidFill>
                <a:srgbClr val="334155"/>
              </a:solidFill>
              <a:latin typeface="Arial" panose="020B0704020202020204" pitchFamily="34" charset="0"/>
              <a:ea typeface="Arial" panose="020B0704020202020204" pitchFamily="34" charset="-122"/>
              <a:cs typeface="Arial" panose="020B0704020202020204" pitchFamily="34" charset="-120"/>
            </a:endParaRPr>
          </a:p>
          <a:p>
            <a:pPr marL="0" algn="l">
              <a:spcAft>
                <a:spcPts val="300"/>
              </a:spcAft>
              <a:buClrTx/>
              <a:buSzTx/>
              <a:buFontTx/>
              <a:buNone/>
            </a:pPr>
            <a:r>
              <a:rPr lang="en-US" altLang="en-US" sz="1150" b="1" i="1" dirty="0">
                <a:solidFill>
                  <a:srgbClr val="334155"/>
                </a:solidFill>
                <a:latin typeface="Arial Bold Italic" panose="020B0704020202020204" charset="0"/>
                <a:ea typeface="Arial" panose="020B0704020202020204" pitchFamily="34" charset="-122"/>
                <a:cs typeface="Arial Bold Italic" panose="020B0704020202020204" charset="0"/>
              </a:rPr>
              <a:t>Qualitative feedback &amp; records:</a:t>
            </a:r>
            <a:endParaRPr lang="en-US" altLang="en-US" sz="1150" b="1" i="1" dirty="0">
              <a:solidFill>
                <a:srgbClr val="334155"/>
              </a:solidFill>
              <a:latin typeface="Arial Bold Italic" panose="020B0704020202020204" charset="0"/>
              <a:ea typeface="Arial" panose="020B0704020202020204" pitchFamily="34" charset="-122"/>
              <a:cs typeface="Arial Bold Italic" panose="020B0704020202020204" charset="0"/>
            </a:endParaRPr>
          </a:p>
          <a:p>
            <a:pPr marL="0" algn="l">
              <a:spcAft>
                <a:spcPts val="300"/>
              </a:spcAft>
              <a:buClrTx/>
              <a:buSzTx/>
              <a:buFontTx/>
              <a:buNone/>
            </a:pPr>
            <a:r>
              <a:rPr lang="en-US" altLang="en-US" sz="1150" i="1" dirty="0">
                <a:solidFill>
                  <a:srgbClr val="334155"/>
                </a:solidFill>
                <a:latin typeface="Arial" panose="020B0704020202020204" pitchFamily="34" charset="0"/>
                <a:ea typeface="Arial" panose="020B0704020202020204" pitchFamily="34" charset="-122"/>
                <a:cs typeface="Arial" panose="020B0704020202020204" pitchFamily="34" charset="-120"/>
              </a:rPr>
              <a:t>- RBC's annual report says spraying ran "during/after the peak" of transmission, and unexpected upsurges caused stockouts of malaria drugs and tests.</a:t>
            </a:r>
            <a:endParaRPr lang="en-US" altLang="en-US" sz="1150" i="1" dirty="0">
              <a:solidFill>
                <a:srgbClr val="334155"/>
              </a:solidFill>
              <a:latin typeface="Arial" panose="020B0704020202020204" pitchFamily="34" charset="0"/>
              <a:ea typeface="Arial" panose="020B0704020202020204" pitchFamily="34" charset="-122"/>
              <a:cs typeface="Arial" panose="020B0704020202020204" pitchFamily="34" charset="-120"/>
            </a:endParaRPr>
          </a:p>
          <a:p>
            <a:pPr marL="0" algn="l">
              <a:spcAft>
                <a:spcPts val="300"/>
              </a:spcAft>
              <a:buClrTx/>
              <a:buSzTx/>
              <a:buFontTx/>
              <a:buNone/>
            </a:pPr>
            <a:r>
              <a:rPr lang="en-US" altLang="en-US" sz="1150" i="1" dirty="0">
                <a:solidFill>
                  <a:srgbClr val="334155"/>
                </a:solidFill>
                <a:latin typeface="Arial" panose="020B0704020202020204" pitchFamily="34" charset="0"/>
                <a:ea typeface="Arial" panose="020B0704020202020204" pitchFamily="34" charset="-122"/>
                <a:cs typeface="Arial" panose="020B0704020202020204" pitchFamily="34" charset="-120"/>
              </a:rPr>
              <a:t>- Current surveillance data is reported and reviewed through routine monitoring, but the availability of automated early-warning alerts should be validated with RBC.</a:t>
            </a:r>
            <a:endParaRPr lang="en-US" altLang="en-US" sz="1150" i="1" dirty="0">
              <a:solidFill>
                <a:srgbClr val="334155"/>
              </a:solidFill>
              <a:latin typeface="Arial" panose="020B0704020202020204" pitchFamily="34" charset="0"/>
              <a:ea typeface="Arial" panose="020B0704020202020204" pitchFamily="34" charset="-122"/>
              <a:cs typeface="Arial" panose="020B0704020202020204" pitchFamily="34" charset="-120"/>
            </a:endParaRPr>
          </a:p>
        </p:txBody>
      </p:sp>
      <p:sp>
        <p:nvSpPr>
          <p:cNvPr id="9" name="Shape 7"/>
          <p:cNvSpPr/>
          <p:nvPr/>
        </p:nvSpPr>
        <p:spPr>
          <a:xfrm>
            <a:off x="4387671"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10" name="Shape 8"/>
          <p:cNvSpPr/>
          <p:nvPr/>
        </p:nvSpPr>
        <p:spPr>
          <a:xfrm>
            <a:off x="4387671" y="1465348"/>
            <a:ext cx="3391234" cy="393551"/>
          </a:xfrm>
          <a:prstGeom prst="roundRect">
            <a:avLst>
              <a:gd name="adj" fmla="val 16264"/>
            </a:avLst>
          </a:prstGeom>
          <a:solidFill>
            <a:srgbClr val="D97706"/>
          </a:solidFill>
          <a:ln w="12700">
            <a:solidFill>
              <a:srgbClr val="D97706"/>
            </a:solidFill>
            <a:prstDash val="solid"/>
          </a:ln>
        </p:spPr>
      </p:sp>
      <p:sp>
        <p:nvSpPr>
          <p:cNvPr id="11" name="Text 9"/>
          <p:cNvSpPr txBox="1"/>
          <p:nvPr/>
        </p:nvSpPr>
        <p:spPr>
          <a:xfrm>
            <a:off x="4387671"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5. ROOT CAUSES</a:t>
            </a:r>
            <a:endParaRPr lang="en-US" sz="1300" dirty="0"/>
          </a:p>
        </p:txBody>
      </p:sp>
      <p:sp>
        <p:nvSpPr>
          <p:cNvPr id="12" name="Text 10"/>
          <p:cNvSpPr txBox="1"/>
          <p:nvPr/>
        </p:nvSpPr>
        <p:spPr>
          <a:xfrm>
            <a:off x="4543119" y="1968627"/>
            <a:ext cx="3080338" cy="3960111"/>
          </a:xfrm>
          <a:prstGeom prst="rect">
            <a:avLst/>
          </a:prstGeom>
          <a:noFill/>
        </p:spPr>
        <p:txBody>
          <a:bodyPr wrap="square" lIns="0" tIns="0" rIns="0" bIns="0" rtlCol="0" anchor="t"/>
          <a:lstStyle/>
          <a:p>
            <a:pPr marL="0" indent="0">
              <a:spcAft>
                <a:spcPts val="300"/>
              </a:spcAft>
              <a:buNone/>
            </a:pPr>
            <a:r>
              <a:rPr lang="en-US" sz="1200" b="1" i="1" dirty="0">
                <a:solidFill>
                  <a:srgbClr val="0F172A"/>
                </a:solidFill>
                <a:latin typeface="Arial" panose="020B0704020202020204" pitchFamily="34" charset="0"/>
                <a:ea typeface="Arial" panose="020B0704020202020204" pitchFamily="34" charset="-122"/>
                <a:cs typeface="Arial" panose="020B0704020202020204" pitchFamily="34" charset="-120"/>
              </a:rPr>
              <a:t>Underlying systemic cause 1: </a:t>
            </a:r>
            <a:r>
              <a:rPr lang="en-US" sz="1200" i="1" dirty="0">
                <a:solidFill>
                  <a:srgbClr val="334155"/>
                </a:solidFill>
                <a:latin typeface="Arial" panose="020B0704020202020204" pitchFamily="34" charset="0"/>
                <a:ea typeface="Arial" panose="020B0704020202020204" pitchFamily="34" charset="-122"/>
                <a:cs typeface="Arial" panose="020B0704020202020204" pitchFamily="34" charset="-120"/>
              </a:rPr>
              <a:t>Reliance on routine surveillance makes early abnormal patterns harder to detect.</a:t>
            </a:r>
            <a:endParaRPr lang="en-US" sz="1200" dirty="0"/>
          </a:p>
          <a:p>
            <a:pPr marL="0" indent="0">
              <a:spcAft>
                <a:spcPts val="300"/>
              </a:spcAft>
              <a:buNone/>
            </a:pPr>
            <a:r>
              <a:rPr lang="en-US" sz="500" i="1"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200" dirty="0"/>
          </a:p>
          <a:p>
            <a:pPr marL="0" indent="0">
              <a:spcAft>
                <a:spcPts val="300"/>
              </a:spcAft>
              <a:buNone/>
            </a:pPr>
            <a:r>
              <a:rPr lang="en-US" sz="1200" b="1" i="1" dirty="0">
                <a:solidFill>
                  <a:srgbClr val="0F172A"/>
                </a:solidFill>
                <a:latin typeface="Arial" panose="020B0704020202020204" pitchFamily="34" charset="0"/>
                <a:ea typeface="Arial" panose="020B0704020202020204" pitchFamily="34" charset="-122"/>
                <a:cs typeface="Arial" panose="020B0704020202020204" pitchFamily="34" charset="-120"/>
              </a:rPr>
              <a:t>Underlying cause 2: </a:t>
            </a:r>
            <a:r>
              <a:rPr lang="en-US" sz="1200" i="1" dirty="0">
                <a:solidFill>
                  <a:srgbClr val="334155"/>
                </a:solidFill>
                <a:latin typeface="Arial" panose="020B0704020202020204" pitchFamily="34" charset="0"/>
                <a:ea typeface="Arial" panose="020B0704020202020204" pitchFamily="34" charset="-122"/>
                <a:cs typeface="Arial" panose="020B0704020202020204" pitchFamily="34" charset="-120"/>
              </a:rPr>
              <a:t>Multiple data sources may not yet be fully integrated for automated early-warning detection</a:t>
            </a:r>
            <a:endParaRPr lang="en-US" altLang="en-US" sz="1200" b="1" i="1" dirty="0">
              <a:solidFill>
                <a:srgbClr val="0F172A"/>
              </a:solidFill>
              <a:latin typeface="Arial" panose="020B0704020202020204" pitchFamily="34" charset="0"/>
              <a:ea typeface="Arial" panose="020B0704020202020204" pitchFamily="34" charset="-122"/>
              <a:cs typeface="Arial" panose="020B0704020202020204" pitchFamily="34" charset="-120"/>
            </a:endParaRPr>
          </a:p>
          <a:p>
            <a:pPr marL="0" indent="0">
              <a:spcAft>
                <a:spcPts val="300"/>
              </a:spcAft>
              <a:buNone/>
            </a:pPr>
            <a:r>
              <a:rPr lang="en-US" sz="500" i="1"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200" dirty="0"/>
          </a:p>
          <a:p>
            <a:pPr marL="0" indent="0">
              <a:spcAft>
                <a:spcPts val="300"/>
              </a:spcAft>
              <a:buNone/>
            </a:pPr>
            <a:r>
              <a:rPr lang="en-US" sz="1200" b="1" i="1" dirty="0">
                <a:solidFill>
                  <a:srgbClr val="0F172A"/>
                </a:solidFill>
                <a:latin typeface="Arial" panose="020B0704020202020204" pitchFamily="34" charset="0"/>
                <a:ea typeface="Arial" panose="020B0704020202020204" pitchFamily="34" charset="-122"/>
                <a:cs typeface="Arial" panose="020B0704020202020204" pitchFamily="34" charset="-120"/>
              </a:rPr>
              <a:t>Underlying cause 3: </a:t>
            </a:r>
            <a:r>
              <a:rPr lang="en-US" sz="1200" i="1" dirty="0">
                <a:solidFill>
                  <a:srgbClr val="334155"/>
                </a:solidFill>
                <a:latin typeface="Arial" panose="020B0704020202020204" pitchFamily="34" charset="0"/>
                <a:ea typeface="Arial" panose="020B0704020202020204" pitchFamily="34" charset="-122"/>
                <a:cs typeface="Arial" panose="020B0704020202020204" pitchFamily="34" charset="-120"/>
              </a:rPr>
              <a:t>There is limited time between detecting a rise in cases and initiating a response.</a:t>
            </a:r>
            <a:endParaRPr lang="en-US" sz="1200" dirty="0"/>
          </a:p>
        </p:txBody>
      </p:sp>
      <p:sp>
        <p:nvSpPr>
          <p:cNvPr id="13" name="Shape 11"/>
          <p:cNvSpPr/>
          <p:nvPr/>
        </p:nvSpPr>
        <p:spPr>
          <a:xfrm>
            <a:off x="8046854"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14" name="Shape 12"/>
          <p:cNvSpPr/>
          <p:nvPr/>
        </p:nvSpPr>
        <p:spPr>
          <a:xfrm>
            <a:off x="8046854" y="1465348"/>
            <a:ext cx="3391234" cy="393551"/>
          </a:xfrm>
          <a:prstGeom prst="roundRect">
            <a:avLst>
              <a:gd name="adj" fmla="val 16264"/>
            </a:avLst>
          </a:prstGeom>
          <a:solidFill>
            <a:srgbClr val="0F172A"/>
          </a:solidFill>
          <a:ln w="12700">
            <a:solidFill>
              <a:srgbClr val="0F172A"/>
            </a:solidFill>
            <a:prstDash val="solid"/>
          </a:ln>
        </p:spPr>
      </p:sp>
      <p:sp>
        <p:nvSpPr>
          <p:cNvPr id="15" name="Text 13"/>
          <p:cNvSpPr txBox="1"/>
          <p:nvPr/>
        </p:nvSpPr>
        <p:spPr>
          <a:xfrm>
            <a:off x="8046854"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6. WHAT HAS ALREADY BEEN TRIED?</a:t>
            </a:r>
            <a:endParaRPr lang="en-US" sz="1300" dirty="0"/>
          </a:p>
        </p:txBody>
      </p:sp>
      <p:sp>
        <p:nvSpPr>
          <p:cNvPr id="16" name="Text 14"/>
          <p:cNvSpPr txBox="1"/>
          <p:nvPr/>
        </p:nvSpPr>
        <p:spPr>
          <a:xfrm>
            <a:off x="8202302" y="1968627"/>
            <a:ext cx="3080338" cy="3960111"/>
          </a:xfrm>
          <a:prstGeom prst="rect">
            <a:avLst/>
          </a:prstGeom>
          <a:noFill/>
        </p:spPr>
        <p:txBody>
          <a:bodyPr wrap="square" lIns="0" tIns="0" rIns="0" bIns="0" rtlCol="0" anchor="t"/>
          <a:lstStyle/>
          <a:p>
            <a:pPr marL="0" indent="0">
              <a:spcAft>
                <a:spcPts val="300"/>
              </a:spcAft>
              <a:buNone/>
            </a:pPr>
            <a:r>
              <a:rPr lang="en-US" sz="1150" b="1" i="1" dirty="0">
                <a:solidFill>
                  <a:srgbClr val="0F172A"/>
                </a:solidFill>
                <a:latin typeface="Arial" panose="020B0704020202020204" pitchFamily="34" charset="0"/>
                <a:ea typeface="Arial" panose="020B0704020202020204" pitchFamily="34" charset="-122"/>
                <a:cs typeface="Arial" panose="020B0704020202020204" pitchFamily="34" charset="-120"/>
              </a:rPr>
              <a:t>Previous initiative 1: </a:t>
            </a:r>
            <a:r>
              <a:rPr lang="en-US" sz="1150" i="1" dirty="0">
                <a:solidFill>
                  <a:srgbClr val="334155"/>
                </a:solidFill>
                <a:latin typeface="Arial" panose="020B0704020202020204" pitchFamily="34" charset="0"/>
                <a:ea typeface="Arial" panose="020B0704020202020204" pitchFamily="34" charset="-122"/>
                <a:cs typeface="Arial" panose="020B0704020202020204" pitchFamily="34" charset="-120"/>
              </a:rPr>
              <a:t>WHO threshold method, used by RBC's malaria programme: this week's cases are compared with past averages (mean + 2 standard deviations).</a:t>
            </a:r>
            <a:endParaRPr lang="en-US" sz="1150" dirty="0"/>
          </a:p>
          <a:p>
            <a:pPr marL="0" indent="0">
              <a:spcAft>
                <a:spcPts val="300"/>
              </a:spcAft>
              <a:buNone/>
            </a:pPr>
            <a:r>
              <a:rPr lang="en-US" sz="1150" b="1" i="1" dirty="0">
                <a:solidFill>
                  <a:srgbClr val="0F172A"/>
                </a:solidFill>
                <a:latin typeface="Arial" panose="020B0704020202020204" pitchFamily="34" charset="0"/>
                <a:ea typeface="Arial" panose="020B0704020202020204" pitchFamily="34" charset="-122"/>
                <a:cs typeface="Arial" panose="020B0704020202020204" pitchFamily="34" charset="-120"/>
              </a:rPr>
              <a:t>Documented limitation: </a:t>
            </a:r>
            <a:r>
              <a:rPr lang="en-US" sz="1150" i="1" dirty="0">
                <a:solidFill>
                  <a:srgbClr val="334155"/>
                </a:solidFill>
                <a:latin typeface="Arial" panose="020B0704020202020204" pitchFamily="34" charset="0"/>
                <a:ea typeface="Arial" panose="020B0704020202020204" pitchFamily="34" charset="-122"/>
                <a:cs typeface="Arial" panose="020B0704020202020204" pitchFamily="34" charset="-120"/>
              </a:rPr>
              <a:t>It may signal only after cases have already risen, can be distorted by unusual past values, and may miss rises in low-transmission areas (Semakula et al., PLOS One, 2020).</a:t>
            </a:r>
            <a:endParaRPr lang="en-US" sz="1150" dirty="0"/>
          </a:p>
          <a:p>
            <a:pPr marL="0" indent="0">
              <a:spcAft>
                <a:spcPts val="300"/>
              </a:spcAft>
              <a:buNone/>
            </a:pPr>
            <a:r>
              <a:rPr lang="en-US" sz="500" i="1" dirty="0">
                <a:solidFill>
                  <a:srgbClr val="334155"/>
                </a:solidFill>
                <a:latin typeface="Arial" panose="020B0704020202020204" pitchFamily="34" charset="0"/>
                <a:ea typeface="Arial" panose="020B0704020202020204" pitchFamily="34" charset="-122"/>
                <a:cs typeface="Arial" panose="020B0704020202020204" pitchFamily="34" charset="-120"/>
              </a:rPr>
              <a:t> </a:t>
            </a:r>
            <a:endParaRPr lang="en-US" sz="1150" dirty="0"/>
          </a:p>
          <a:p>
            <a:pPr marL="0" indent="0">
              <a:spcAft>
                <a:spcPts val="300"/>
              </a:spcAft>
              <a:buNone/>
            </a:pPr>
            <a:r>
              <a:rPr lang="en-US" sz="1150" b="1" i="1" dirty="0">
                <a:solidFill>
                  <a:srgbClr val="0F172A"/>
                </a:solidFill>
                <a:latin typeface="Arial" panose="020B0704020202020204" pitchFamily="34" charset="0"/>
                <a:ea typeface="Arial" panose="020B0704020202020204" pitchFamily="34" charset="-122"/>
                <a:cs typeface="Arial" panose="020B0704020202020204" pitchFamily="34" charset="-120"/>
              </a:rPr>
              <a:t>Previous initiative 2: </a:t>
            </a:r>
            <a:r>
              <a:rPr lang="en-US" sz="1150" i="1" dirty="0">
                <a:solidFill>
                  <a:srgbClr val="334155"/>
                </a:solidFill>
                <a:latin typeface="Arial" panose="020B0704020202020204" pitchFamily="34" charset="0"/>
                <a:ea typeface="Arial" panose="020B0704020202020204" pitchFamily="34" charset="-122"/>
                <a:cs typeface="Arial" panose="020B0704020202020204" pitchFamily="34" charset="-120"/>
              </a:rPr>
              <a:t>Reactive spraying and emergency bed net distribution in districts with upsurges.</a:t>
            </a:r>
            <a:endParaRPr lang="en-US" sz="1150" dirty="0"/>
          </a:p>
          <a:p>
            <a:pPr marL="0" indent="0">
              <a:spcAft>
                <a:spcPts val="300"/>
              </a:spcAft>
              <a:buNone/>
            </a:pPr>
            <a:r>
              <a:rPr lang="en-US" sz="1150" b="1" i="1" dirty="0">
                <a:solidFill>
                  <a:srgbClr val="0F172A"/>
                </a:solidFill>
                <a:latin typeface="Arial" panose="020B0704020202020204" pitchFamily="34" charset="0"/>
                <a:ea typeface="Arial" panose="020B0704020202020204" pitchFamily="34" charset="-122"/>
                <a:cs typeface="Arial" panose="020B0704020202020204" pitchFamily="34" charset="-120"/>
              </a:rPr>
              <a:t>Documented limitation: </a:t>
            </a:r>
            <a:r>
              <a:rPr lang="en-US" sz="1150" i="1" dirty="0">
                <a:solidFill>
                  <a:srgbClr val="334155"/>
                </a:solidFill>
                <a:latin typeface="Arial" panose="020B0704020202020204" pitchFamily="34" charset="0"/>
                <a:ea typeface="Arial" panose="020B0704020202020204" pitchFamily="34" charset="-122"/>
                <a:cs typeface="Arial" panose="020B0704020202020204" pitchFamily="34" charset="-120"/>
              </a:rPr>
              <a:t>Procurement and funding delays meant spraying ran during or after the peak, and upsurges continued (RBC annual report FY 2023/24).</a:t>
            </a:r>
            <a:endParaRPr lang="en-US" sz="1150" dirty="0"/>
          </a:p>
          <a:p>
            <a:pPr marL="0" indent="0">
              <a:spcAft>
                <a:spcPts val="300"/>
              </a:spcAft>
              <a:buNone/>
            </a:pPr>
            <a:endParaRPr lang="en-US" sz="1150" i="1" dirty="0">
              <a:solidFill>
                <a:srgbClr val="334155"/>
              </a:solidFill>
              <a:latin typeface="Arial" panose="020B0704020202020204" pitchFamily="34" charset="0"/>
              <a:ea typeface="Arial" panose="020B0704020202020204" pitchFamily="34" charset="-122"/>
              <a:cs typeface="Arial" panose="020B070402020202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28487" y="318190"/>
            <a:ext cx="7315200" cy="274320"/>
          </a:xfrm>
          <a:prstGeom prst="rect">
            <a:avLst/>
          </a:prstGeom>
          <a:noFill/>
        </p:spPr>
        <p:txBody>
          <a:bodyPr wrap="square" lIns="0" tIns="0" rIns="0" bIns="0" rtlCol="0" anchor="ctr"/>
          <a:lstStyle/>
          <a:p>
            <a:pPr marL="0" indent="0">
              <a:buNone/>
            </a:pPr>
            <a:r>
              <a:rPr lang="en-US" sz="1100" b="1" dirty="0">
                <a:solidFill>
                  <a:srgbClr val="2563EB"/>
                </a:solidFill>
                <a:latin typeface="Arial" panose="020B0704020202020204" pitchFamily="34" charset="0"/>
                <a:ea typeface="Arial" panose="020B0704020202020204" pitchFamily="34" charset="-122"/>
                <a:cs typeface="Arial" panose="020B0704020202020204" pitchFamily="34" charset="-120"/>
              </a:rPr>
              <a:t>PROBLEM FRAMING CANVAS • DAY 1</a:t>
            </a:r>
            <a:endParaRPr lang="en-US" sz="1100" dirty="0"/>
          </a:p>
        </p:txBody>
      </p:sp>
      <p:sp>
        <p:nvSpPr>
          <p:cNvPr id="3" name="Text 1"/>
          <p:cNvSpPr txBox="1"/>
          <p:nvPr/>
        </p:nvSpPr>
        <p:spPr>
          <a:xfrm>
            <a:off x="728487" y="602886"/>
            <a:ext cx="10734721" cy="502920"/>
          </a:xfrm>
          <a:prstGeom prst="rect">
            <a:avLst/>
          </a:prstGeom>
          <a:noFill/>
        </p:spPr>
        <p:txBody>
          <a:bodyPr wrap="square" lIns="0" tIns="0" rIns="0" bIns="0" rtlCol="0" anchor="ctr"/>
          <a:lstStyle/>
          <a:p>
            <a:pPr marL="0" indent="0">
              <a:buNone/>
            </a:pPr>
            <a:r>
              <a:rPr lang="en-US" sz="2200" b="1" dirty="0">
                <a:solidFill>
                  <a:srgbClr val="0F172A"/>
                </a:solidFill>
                <a:latin typeface="Georgia" panose="02040502050405090303" pitchFamily="34" charset="0"/>
                <a:ea typeface="Georgia" panose="02040502050405090303" pitchFamily="34" charset="-122"/>
                <a:cs typeface="Georgia" panose="02040502050405090303" pitchFamily="34" charset="-120"/>
              </a:rPr>
              <a:t>A1. Problem Definition — Boundary Constraints &amp; Assumptions</a:t>
            </a:r>
            <a:endParaRPr lang="en-US" sz="2200" dirty="0"/>
          </a:p>
        </p:txBody>
      </p:sp>
      <p:sp>
        <p:nvSpPr>
          <p:cNvPr id="4" name="Shape 2"/>
          <p:cNvSpPr/>
          <p:nvPr/>
        </p:nvSpPr>
        <p:spPr>
          <a:xfrm>
            <a:off x="728487" y="1230892"/>
            <a:ext cx="10734721" cy="41148"/>
          </a:xfrm>
          <a:prstGeom prst="rect">
            <a:avLst/>
          </a:prstGeom>
          <a:solidFill>
            <a:srgbClr val="CBD5E1"/>
          </a:solidFill>
          <a:ln w="12700">
            <a:solidFill>
              <a:srgbClr val="CBD5E1"/>
            </a:solidFill>
            <a:prstDash val="solid"/>
          </a:ln>
        </p:spPr>
      </p:sp>
      <p:sp>
        <p:nvSpPr>
          <p:cNvPr id="5" name="Shape 3"/>
          <p:cNvSpPr/>
          <p:nvPr/>
        </p:nvSpPr>
        <p:spPr>
          <a:xfrm>
            <a:off x="728487" y="1465348"/>
            <a:ext cx="5216639" cy="4856582"/>
          </a:xfrm>
          <a:prstGeom prst="roundRect">
            <a:avLst>
              <a:gd name="adj" fmla="val 10355"/>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6" name="Shape 4"/>
          <p:cNvSpPr/>
          <p:nvPr/>
        </p:nvSpPr>
        <p:spPr>
          <a:xfrm>
            <a:off x="728487" y="1465348"/>
            <a:ext cx="5216639" cy="393551"/>
          </a:xfrm>
          <a:prstGeom prst="roundRect">
            <a:avLst>
              <a:gd name="adj" fmla="val 16264"/>
            </a:avLst>
          </a:prstGeom>
          <a:solidFill>
            <a:srgbClr val="0F172A"/>
          </a:solidFill>
          <a:ln w="12700">
            <a:solidFill>
              <a:srgbClr val="0F172A"/>
            </a:solidFill>
            <a:prstDash val="solid"/>
          </a:ln>
        </p:spPr>
      </p:sp>
      <p:sp>
        <p:nvSpPr>
          <p:cNvPr id="7" name="Text 5"/>
          <p:cNvSpPr txBox="1"/>
          <p:nvPr/>
        </p:nvSpPr>
        <p:spPr>
          <a:xfrm>
            <a:off x="728487" y="1465348"/>
            <a:ext cx="5216639"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7. OPERATIONAL &amp; SYSTEMIC CONSTRAINTS</a:t>
            </a:r>
            <a:endParaRPr lang="en-US" sz="1300" dirty="0"/>
          </a:p>
        </p:txBody>
      </p:sp>
      <p:sp>
        <p:nvSpPr>
          <p:cNvPr id="8" name="Text 6"/>
          <p:cNvSpPr txBox="1"/>
          <p:nvPr/>
        </p:nvSpPr>
        <p:spPr>
          <a:xfrm>
            <a:off x="883935" y="1968627"/>
            <a:ext cx="4905743" cy="3960111"/>
          </a:xfrm>
          <a:prstGeom prst="rect">
            <a:avLst/>
          </a:prstGeom>
          <a:noFill/>
        </p:spPr>
        <p:txBody>
          <a:bodyPr wrap="square" lIns="0" tIns="0" rIns="0" bIns="0" rtlCol="0" anchor="t"/>
          <a:lstStyle/>
          <a:p>
            <a:pPr marL="0" indent="0">
              <a:spcAft>
                <a:spcPts val="300"/>
              </a:spcAft>
              <a:buNone/>
            </a:pPr>
            <a:r>
              <a:rPr lang="en-US" sz="1300" b="1" dirty="0">
                <a:solidFill>
                  <a:srgbClr val="0F172A"/>
                </a:solidFill>
                <a:latin typeface="Arial" panose="020B0704020202020204" pitchFamily="34" charset="0"/>
                <a:ea typeface="Arial" panose="020B0704020202020204" pitchFamily="34" charset="-122"/>
                <a:cs typeface="Arial" panose="020B0704020202020204" pitchFamily="34" charset="-120"/>
              </a:rPr>
              <a:t>For the Primary User: </a:t>
            </a:r>
            <a:r>
              <a:rPr lang="en-US" sz="1300" dirty="0">
                <a:solidFill>
                  <a:srgbClr val="334155"/>
                </a:solidFill>
                <a:latin typeface="Arial" panose="020B0704020202020204" pitchFamily="34" charset="0"/>
                <a:ea typeface="Arial" panose="020B0704020202020204" pitchFamily="34" charset="-122"/>
                <a:cs typeface="Arial" panose="020B0704020202020204" pitchFamily="34" charset="-120"/>
              </a:rPr>
              <a:t>Earlier detection of abnormal malaria patterns with clear, actionable alerts.</a:t>
            </a:r>
            <a:endParaRPr lang="en-US" sz="1300" dirty="0"/>
          </a:p>
          <a:p>
            <a:pPr marL="0" indent="0">
              <a:spcAft>
                <a:spcPts val="300"/>
              </a:spcAft>
              <a:buNone/>
            </a:pPr>
            <a:r>
              <a:rPr lang="en-US" sz="1300" b="1" dirty="0">
                <a:solidFill>
                  <a:srgbClr val="0F172A"/>
                </a:solidFill>
                <a:latin typeface="Arial" panose="020B0704020202020204" pitchFamily="34" charset="0"/>
                <a:ea typeface="Arial" panose="020B0704020202020204" pitchFamily="34" charset="-122"/>
                <a:cs typeface="Arial" panose="020B0704020202020204" pitchFamily="34" charset="-120"/>
              </a:rPr>
              <a:t>For the Institution: </a:t>
            </a:r>
            <a:r>
              <a:rPr lang="en-US" sz="1300" dirty="0">
                <a:solidFill>
                  <a:srgbClr val="334155"/>
                </a:solidFill>
                <a:latin typeface="Arial" panose="020B0704020202020204" pitchFamily="34" charset="0"/>
                <a:ea typeface="Arial" panose="020B0704020202020204" pitchFamily="34" charset="-122"/>
                <a:cs typeface="Arial" panose="020B0704020202020204" pitchFamily="34" charset="-120"/>
              </a:rPr>
              <a:t>Faster identification and investigation of potential outbreaks.</a:t>
            </a:r>
            <a:endParaRPr lang="en-US" sz="1300" dirty="0"/>
          </a:p>
          <a:p>
            <a:pPr marL="0" indent="0">
              <a:spcAft>
                <a:spcPts val="300"/>
              </a:spcAft>
              <a:buNone/>
            </a:pPr>
            <a:r>
              <a:rPr lang="en-US" sz="1300" b="1" dirty="0">
                <a:solidFill>
                  <a:srgbClr val="0F172A"/>
                </a:solidFill>
                <a:latin typeface="Arial" panose="020B0704020202020204" pitchFamily="34" charset="0"/>
                <a:ea typeface="Arial" panose="020B0704020202020204" pitchFamily="34" charset="-122"/>
                <a:cs typeface="Arial" panose="020B0704020202020204" pitchFamily="34" charset="-120"/>
              </a:rPr>
              <a:t>Systemic Impact: </a:t>
            </a:r>
            <a:r>
              <a:rPr lang="en-US" sz="1300" dirty="0">
                <a:solidFill>
                  <a:srgbClr val="334155"/>
                </a:solidFill>
                <a:latin typeface="Arial" panose="020B0704020202020204" pitchFamily="34" charset="0"/>
                <a:ea typeface="Arial" panose="020B0704020202020204" pitchFamily="34" charset="-122"/>
                <a:cs typeface="Arial" panose="020B0704020202020204" pitchFamily="34" charset="-120"/>
              </a:rPr>
              <a:t>Earlier malaria response and reduced time between detection and action.</a:t>
            </a:r>
            <a:endParaRPr lang="en-US" sz="1300" dirty="0"/>
          </a:p>
        </p:txBody>
      </p:sp>
      <p:sp>
        <p:nvSpPr>
          <p:cNvPr id="9" name="Shape 7"/>
          <p:cNvSpPr/>
          <p:nvPr/>
        </p:nvSpPr>
        <p:spPr>
          <a:xfrm>
            <a:off x="6246569" y="1465348"/>
            <a:ext cx="5216639" cy="4856582"/>
          </a:xfrm>
          <a:prstGeom prst="roundRect">
            <a:avLst>
              <a:gd name="adj" fmla="val 10355"/>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10" name="Shape 8"/>
          <p:cNvSpPr/>
          <p:nvPr/>
        </p:nvSpPr>
        <p:spPr>
          <a:xfrm>
            <a:off x="6246569" y="1465348"/>
            <a:ext cx="5216639" cy="393551"/>
          </a:xfrm>
          <a:prstGeom prst="roundRect">
            <a:avLst>
              <a:gd name="adj" fmla="val 16264"/>
            </a:avLst>
          </a:prstGeom>
          <a:solidFill>
            <a:srgbClr val="D97706"/>
          </a:solidFill>
          <a:ln w="12700">
            <a:solidFill>
              <a:srgbClr val="D97706"/>
            </a:solidFill>
            <a:prstDash val="solid"/>
          </a:ln>
        </p:spPr>
      </p:sp>
      <p:sp>
        <p:nvSpPr>
          <p:cNvPr id="11" name="Text 9"/>
          <p:cNvSpPr txBox="1"/>
          <p:nvPr/>
        </p:nvSpPr>
        <p:spPr>
          <a:xfrm>
            <a:off x="6246569" y="1465348"/>
            <a:ext cx="5216639"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8. UNVALIDATED ASSUMPTIONS</a:t>
            </a:r>
            <a:endParaRPr lang="en-US" sz="1300" dirty="0"/>
          </a:p>
        </p:txBody>
      </p:sp>
      <p:sp>
        <p:nvSpPr>
          <p:cNvPr id="12" name="Text 10"/>
          <p:cNvSpPr txBox="1"/>
          <p:nvPr/>
        </p:nvSpPr>
        <p:spPr>
          <a:xfrm>
            <a:off x="6402017" y="1968627"/>
            <a:ext cx="4905743" cy="3960111"/>
          </a:xfrm>
          <a:prstGeom prst="rect">
            <a:avLst/>
          </a:prstGeom>
          <a:noFill/>
        </p:spPr>
        <p:txBody>
          <a:bodyPr wrap="square" lIns="0" tIns="0" rIns="0" bIns="0" rtlCol="0" anchor="t"/>
          <a:lstStyle/>
          <a:p>
            <a:pPr marL="0" indent="0">
              <a:spcAft>
                <a:spcPts val="300"/>
              </a:spcAft>
              <a:buNone/>
            </a:pPr>
            <a:r>
              <a:rPr lang="en-US" sz="1300" b="1" dirty="0">
                <a:solidFill>
                  <a:srgbClr val="0F172A"/>
                </a:solidFill>
                <a:latin typeface="Arial" panose="020B0704020202020204" pitchFamily="34" charset="0"/>
                <a:ea typeface="Arial" panose="020B0704020202020204" pitchFamily="34" charset="-122"/>
                <a:cs typeface="Arial" panose="020B0704020202020204" pitchFamily="34" charset="-120"/>
              </a:rPr>
              <a:t>User behavior assumption: </a:t>
            </a:r>
            <a:r>
              <a:rPr lang="en-US" sz="1300" dirty="0">
                <a:solidFill>
                  <a:srgbClr val="334155"/>
                </a:solidFill>
                <a:latin typeface="Arial" panose="020B0704020202020204" pitchFamily="34" charset="0"/>
                <a:ea typeface="Arial" panose="020B0704020202020204" pitchFamily="34" charset="-122"/>
                <a:cs typeface="Arial" panose="020B0704020202020204" pitchFamily="34" charset="-120"/>
              </a:rPr>
              <a:t>District health teams will use and act on AI alerts.</a:t>
            </a:r>
            <a:endParaRPr lang="en-US" sz="1300" dirty="0"/>
          </a:p>
          <a:p>
            <a:pPr marL="0" indent="0">
              <a:spcAft>
                <a:spcPts val="300"/>
              </a:spcAft>
              <a:buNone/>
            </a:pPr>
            <a:r>
              <a:rPr lang="en-US" sz="1300" b="1" dirty="0">
                <a:solidFill>
                  <a:srgbClr val="0F172A"/>
                </a:solidFill>
                <a:latin typeface="Arial" panose="020B0704020202020204" pitchFamily="34" charset="0"/>
                <a:ea typeface="Arial" panose="020B0704020202020204" pitchFamily="34" charset="-122"/>
                <a:cs typeface="Arial" panose="020B0704020202020204" pitchFamily="34" charset="-120"/>
              </a:rPr>
              <a:t>Institutional capability assumption: </a:t>
            </a:r>
            <a:r>
              <a:rPr lang="en-US" sz="1300" dirty="0">
                <a:solidFill>
                  <a:srgbClr val="334155"/>
                </a:solidFill>
                <a:latin typeface="Arial" panose="020B0704020202020204" pitchFamily="34" charset="0"/>
                <a:ea typeface="Arial" panose="020B0704020202020204" pitchFamily="34" charset="-122"/>
                <a:cs typeface="Arial" panose="020B0704020202020204" pitchFamily="34" charset="-120"/>
              </a:rPr>
              <a:t>Pilot districts have staff to review and respond to alerts.</a:t>
            </a:r>
            <a:endParaRPr lang="en-US" sz="1300" dirty="0"/>
          </a:p>
          <a:p>
            <a:pPr marL="0" indent="0">
              <a:spcAft>
                <a:spcPts val="300"/>
              </a:spcAft>
              <a:buNone/>
            </a:pPr>
            <a:r>
              <a:rPr lang="en-US" sz="1300" b="1" dirty="0">
                <a:solidFill>
                  <a:srgbClr val="0F172A"/>
                </a:solidFill>
                <a:latin typeface="Arial" panose="020B0704020202020204" pitchFamily="34" charset="0"/>
                <a:ea typeface="Arial" panose="020B0704020202020204" pitchFamily="34" charset="-122"/>
                <a:cs typeface="Arial" panose="020B0704020202020204" pitchFamily="34" charset="-120"/>
              </a:rPr>
              <a:t>Data access assumption: </a:t>
            </a:r>
            <a:r>
              <a:rPr lang="en-US" sz="1300" dirty="0">
                <a:solidFill>
                  <a:srgbClr val="334155"/>
                </a:solidFill>
                <a:latin typeface="Arial" panose="020B0704020202020204" pitchFamily="34" charset="0"/>
                <a:ea typeface="Arial" panose="020B0704020202020204" pitchFamily="34" charset="-122"/>
                <a:cs typeface="Arial" panose="020B0704020202020204" pitchFamily="34" charset="-120"/>
              </a:rPr>
              <a:t>DHIS2, eLMIS and surveillance data can be accessed and linked.</a:t>
            </a:r>
            <a:endParaRPr lang="en-US" sz="1300" dirty="0"/>
          </a:p>
          <a:p>
            <a:pPr marL="0" indent="0">
              <a:spcAft>
                <a:spcPts val="300"/>
              </a:spcAft>
              <a:buNone/>
            </a:pPr>
            <a:r>
              <a:rPr lang="en-US" sz="1300" b="1" dirty="0">
                <a:solidFill>
                  <a:srgbClr val="0F172A"/>
                </a:solidFill>
                <a:latin typeface="Arial" panose="020B0704020202020204" pitchFamily="34" charset="0"/>
                <a:ea typeface="Arial" panose="020B0704020202020204" pitchFamily="34" charset="-122"/>
                <a:cs typeface="Arial" panose="020B0704020202020204" pitchFamily="34" charset="-120"/>
              </a:rPr>
              <a:t>Validation Plan: </a:t>
            </a:r>
            <a:r>
              <a:rPr lang="en-US" sz="1300" dirty="0">
                <a:solidFill>
                  <a:srgbClr val="334155"/>
                </a:solidFill>
                <a:latin typeface="Arial" panose="020B0704020202020204" pitchFamily="34" charset="0"/>
                <a:ea typeface="Arial" panose="020B0704020202020204" pitchFamily="34" charset="-122"/>
                <a:cs typeface="Arial" panose="020B0704020202020204" pitchFamily="34" charset="-120"/>
              </a:rPr>
              <a:t>Confirm these assumptions with RBC and district health teams on Day 1.</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28487" y="318190"/>
            <a:ext cx="7315200" cy="274320"/>
          </a:xfrm>
          <a:prstGeom prst="rect">
            <a:avLst/>
          </a:prstGeom>
          <a:noFill/>
        </p:spPr>
        <p:txBody>
          <a:bodyPr wrap="square" lIns="0" tIns="0" rIns="0" bIns="0" rtlCol="0" anchor="ctr"/>
          <a:lstStyle/>
          <a:p>
            <a:pPr marL="0" indent="0">
              <a:buNone/>
            </a:pPr>
            <a:r>
              <a:rPr lang="en-US" sz="1100" b="1" dirty="0">
                <a:solidFill>
                  <a:srgbClr val="2563EB"/>
                </a:solidFill>
                <a:latin typeface="Arial" panose="020B0704020202020204" pitchFamily="34" charset="0"/>
                <a:ea typeface="Arial" panose="020B0704020202020204" pitchFamily="34" charset="-122"/>
                <a:cs typeface="Arial" panose="020B0704020202020204" pitchFamily="34" charset="-120"/>
              </a:rPr>
              <a:t>PROBLEM FRAMING CANVAS • DAY 1</a:t>
            </a:r>
            <a:endParaRPr lang="en-US" sz="1100" dirty="0"/>
          </a:p>
        </p:txBody>
      </p:sp>
      <p:sp>
        <p:nvSpPr>
          <p:cNvPr id="3" name="Text 1"/>
          <p:cNvSpPr txBox="1"/>
          <p:nvPr/>
        </p:nvSpPr>
        <p:spPr>
          <a:xfrm>
            <a:off x="728487" y="602886"/>
            <a:ext cx="10734721" cy="502920"/>
          </a:xfrm>
          <a:prstGeom prst="rect">
            <a:avLst/>
          </a:prstGeom>
          <a:noFill/>
        </p:spPr>
        <p:txBody>
          <a:bodyPr wrap="square" lIns="0" tIns="0" rIns="0" bIns="0" rtlCol="0" anchor="ctr"/>
          <a:lstStyle/>
          <a:p>
            <a:pPr marL="0" indent="0">
              <a:buNone/>
            </a:pPr>
            <a:r>
              <a:rPr lang="en-US" sz="2000" b="1" dirty="0">
                <a:solidFill>
                  <a:srgbClr val="0F172A"/>
                </a:solidFill>
                <a:latin typeface="Georgia" panose="02040502050405090303" pitchFamily="34" charset="0"/>
                <a:ea typeface="Georgia" panose="02040502050405090303" pitchFamily="34" charset="-122"/>
                <a:cs typeface="Georgia" panose="02040502050405090303" pitchFamily="34" charset="-120"/>
              </a:rPr>
              <a:t>A2. Success Definition — Desired Change, Metrics &amp; Failure Boundaries</a:t>
            </a:r>
            <a:endParaRPr lang="en-US" sz="2000" dirty="0"/>
          </a:p>
        </p:txBody>
      </p:sp>
      <p:sp>
        <p:nvSpPr>
          <p:cNvPr id="4" name="Shape 2"/>
          <p:cNvSpPr/>
          <p:nvPr/>
        </p:nvSpPr>
        <p:spPr>
          <a:xfrm>
            <a:off x="728487" y="1230892"/>
            <a:ext cx="10734721" cy="41148"/>
          </a:xfrm>
          <a:prstGeom prst="rect">
            <a:avLst/>
          </a:prstGeom>
          <a:solidFill>
            <a:srgbClr val="CBD5E1"/>
          </a:solidFill>
          <a:ln w="12700">
            <a:solidFill>
              <a:srgbClr val="CBD5E1"/>
            </a:solidFill>
            <a:prstDash val="solid"/>
          </a:ln>
        </p:spPr>
      </p:sp>
      <p:sp>
        <p:nvSpPr>
          <p:cNvPr id="5" name="Shape 3"/>
          <p:cNvSpPr/>
          <p:nvPr/>
        </p:nvSpPr>
        <p:spPr>
          <a:xfrm>
            <a:off x="728487"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6" name="Shape 4"/>
          <p:cNvSpPr/>
          <p:nvPr/>
        </p:nvSpPr>
        <p:spPr>
          <a:xfrm>
            <a:off x="728487" y="1465348"/>
            <a:ext cx="3391234" cy="393551"/>
          </a:xfrm>
          <a:prstGeom prst="roundRect">
            <a:avLst>
              <a:gd name="adj" fmla="val 16264"/>
            </a:avLst>
          </a:prstGeom>
          <a:solidFill>
            <a:srgbClr val="0F172A"/>
          </a:solidFill>
          <a:ln w="12700">
            <a:solidFill>
              <a:srgbClr val="0F172A"/>
            </a:solidFill>
            <a:prstDash val="solid"/>
          </a:ln>
        </p:spPr>
      </p:sp>
      <p:sp>
        <p:nvSpPr>
          <p:cNvPr id="7" name="Text 5"/>
          <p:cNvSpPr txBox="1"/>
          <p:nvPr/>
        </p:nvSpPr>
        <p:spPr>
          <a:xfrm>
            <a:off x="728487"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1. DESIRED CHANGE</a:t>
            </a:r>
            <a:endParaRPr lang="en-US" sz="1300" dirty="0"/>
          </a:p>
        </p:txBody>
      </p:sp>
      <p:sp>
        <p:nvSpPr>
          <p:cNvPr id="8" name="Text 6"/>
          <p:cNvSpPr txBox="1"/>
          <p:nvPr/>
        </p:nvSpPr>
        <p:spPr>
          <a:xfrm>
            <a:off x="883935" y="1968627"/>
            <a:ext cx="3080338" cy="3960111"/>
          </a:xfrm>
          <a:prstGeom prst="rect">
            <a:avLst/>
          </a:prstGeom>
          <a:noFill/>
        </p:spPr>
        <p:txBody>
          <a:bodyPr wrap="square" lIns="0" tIns="0" rIns="0" bIns="0" rtlCol="0" anchor="t"/>
          <a:lstStyle/>
          <a:p>
            <a:pPr marL="0" indent="0">
              <a:spcAft>
                <a:spcPts val="300"/>
              </a:spcAft>
              <a:buNone/>
            </a:pPr>
            <a:r>
              <a:rPr lang="en-US" sz="1250" b="1" dirty="0">
                <a:solidFill>
                  <a:srgbClr val="0F172A"/>
                </a:solidFill>
                <a:latin typeface="Arial" panose="020B0704020202020204" pitchFamily="34" charset="0"/>
                <a:ea typeface="Arial" panose="020B0704020202020204" pitchFamily="34" charset="-122"/>
                <a:cs typeface="Arial" panose="020B0704020202020204" pitchFamily="34" charset="-120"/>
              </a:rPr>
              <a:t>For the Primary User: </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Earlier alerts on unusual malaria patterns.</a:t>
            </a:r>
            <a:endParaRPr lang="en-US" sz="1250" dirty="0"/>
          </a:p>
          <a:p>
            <a:pPr marL="0" indent="0">
              <a:spcAft>
                <a:spcPts val="300"/>
              </a:spcAft>
              <a:buNone/>
            </a:pPr>
            <a:r>
              <a:rPr lang="en-US" sz="1250" b="1" dirty="0">
                <a:solidFill>
                  <a:srgbClr val="0F172A"/>
                </a:solidFill>
                <a:latin typeface="Arial" panose="020B0704020202020204" pitchFamily="34" charset="0"/>
                <a:ea typeface="Arial" panose="020B0704020202020204" pitchFamily="34" charset="-122"/>
                <a:cs typeface="Arial" panose="020B0704020202020204" pitchFamily="34" charset="-120"/>
              </a:rPr>
              <a:t>For the Institution: </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Faster investigation and response to potential outbreaks.</a:t>
            </a:r>
            <a:endParaRPr lang="en-US" sz="1250" dirty="0"/>
          </a:p>
          <a:p>
            <a:pPr marL="0" indent="0">
              <a:spcAft>
                <a:spcPts val="300"/>
              </a:spcAft>
              <a:buNone/>
            </a:pPr>
            <a:r>
              <a:rPr lang="en-US" sz="1250" b="1" dirty="0">
                <a:solidFill>
                  <a:srgbClr val="0F172A"/>
                </a:solidFill>
                <a:latin typeface="Arial" panose="020B0704020202020204" pitchFamily="34" charset="0"/>
                <a:ea typeface="Arial" panose="020B0704020202020204" pitchFamily="34" charset="-122"/>
                <a:cs typeface="Arial" panose="020B0704020202020204" pitchFamily="34" charset="-120"/>
              </a:rPr>
              <a:t>Systemic Impact: </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Earlier detection and more timely malaria response.</a:t>
            </a:r>
            <a:endParaRPr lang="en-US" sz="1250" dirty="0"/>
          </a:p>
        </p:txBody>
      </p:sp>
      <p:sp>
        <p:nvSpPr>
          <p:cNvPr id="9" name="Shape 7"/>
          <p:cNvSpPr/>
          <p:nvPr/>
        </p:nvSpPr>
        <p:spPr>
          <a:xfrm>
            <a:off x="4387671"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10" name="Shape 8"/>
          <p:cNvSpPr/>
          <p:nvPr/>
        </p:nvSpPr>
        <p:spPr>
          <a:xfrm>
            <a:off x="4387671" y="1465348"/>
            <a:ext cx="3391234" cy="393551"/>
          </a:xfrm>
          <a:prstGeom prst="roundRect">
            <a:avLst>
              <a:gd name="adj" fmla="val 16264"/>
            </a:avLst>
          </a:prstGeom>
          <a:solidFill>
            <a:srgbClr val="2563EB"/>
          </a:solidFill>
          <a:ln w="12700">
            <a:solidFill>
              <a:srgbClr val="2563EB"/>
            </a:solidFill>
            <a:prstDash val="solid"/>
          </a:ln>
        </p:spPr>
      </p:sp>
      <p:sp>
        <p:nvSpPr>
          <p:cNvPr id="11" name="Text 9"/>
          <p:cNvSpPr txBox="1"/>
          <p:nvPr/>
        </p:nvSpPr>
        <p:spPr>
          <a:xfrm>
            <a:off x="4387671"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2. MEASURABLE SUCCESS INDICATORS</a:t>
            </a:r>
            <a:endParaRPr lang="en-US" sz="1300" dirty="0"/>
          </a:p>
        </p:txBody>
      </p:sp>
      <p:sp>
        <p:nvSpPr>
          <p:cNvPr id="12" name="Text 10"/>
          <p:cNvSpPr txBox="1"/>
          <p:nvPr/>
        </p:nvSpPr>
        <p:spPr>
          <a:xfrm>
            <a:off x="4543119" y="1968627"/>
            <a:ext cx="3080338" cy="3960111"/>
          </a:xfrm>
          <a:prstGeom prst="rect">
            <a:avLst/>
          </a:prstGeom>
          <a:noFill/>
        </p:spPr>
        <p:txBody>
          <a:bodyPr wrap="square" lIns="0" tIns="0" rIns="0" bIns="0" rtlCol="0" anchor="t"/>
          <a:lstStyle/>
          <a:p>
            <a:pPr marL="0" algn="l">
              <a:spcAft>
                <a:spcPts val="300"/>
              </a:spcAft>
              <a:buClrTx/>
              <a:buSzTx/>
              <a:buFontTx/>
              <a:buNone/>
            </a:pPr>
            <a:r>
              <a:rPr lang="en-US" sz="1250" b="1" dirty="0">
                <a:solidFill>
                  <a:srgbClr val="334155"/>
                </a:solidFill>
                <a:latin typeface="Arial Bold" panose="020B0704020202020204" charset="0"/>
                <a:ea typeface="Arial" panose="020B0704020202020204" pitchFamily="34" charset="-122"/>
                <a:cs typeface="Arial Bold" panose="020B0704020202020204" charset="0"/>
              </a:rPr>
              <a:t>Metric 1</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  Detection time: Time from abnormal-pattern detection to alert.</a:t>
            </a:r>
            <a:endPar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endParaRPr>
          </a:p>
          <a:p>
            <a:pPr marL="0" algn="l">
              <a:spcAft>
                <a:spcPts val="300"/>
              </a:spcAft>
              <a:buClrTx/>
              <a:buSzTx/>
              <a:buFontTx/>
              <a:buNone/>
            </a:pPr>
            <a:r>
              <a:rPr lang="en-US" sz="1250" b="1" dirty="0">
                <a:solidFill>
                  <a:srgbClr val="334155"/>
                </a:solidFill>
                <a:latin typeface="Arial Bold" panose="020B0704020202020204" charset="0"/>
                <a:ea typeface="Arial" panose="020B0704020202020204" pitchFamily="34" charset="-122"/>
                <a:cs typeface="Arial Bold" panose="020B0704020202020204" charset="0"/>
              </a:rPr>
              <a:t>Metric 2</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  Early detection: Proportion of abnormal patterns detected before significant case increases.</a:t>
            </a:r>
            <a:endPar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endParaRPr>
          </a:p>
          <a:p>
            <a:pPr marL="0" algn="l">
              <a:spcAft>
                <a:spcPts val="300"/>
              </a:spcAft>
              <a:buClrTx/>
              <a:buSzTx/>
              <a:buFontTx/>
              <a:buNone/>
            </a:pPr>
            <a:r>
              <a:rPr lang="en-US" sz="1250" b="1" dirty="0">
                <a:solidFill>
                  <a:srgbClr val="334155"/>
                </a:solidFill>
                <a:latin typeface="Arial Bold" panose="020B0704020202020204" charset="0"/>
                <a:ea typeface="Arial" panose="020B0704020202020204" pitchFamily="34" charset="-122"/>
                <a:cs typeface="Arial Bold" panose="020B0704020202020204" charset="0"/>
              </a:rPr>
              <a:t>Metric 3 </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 Alert accuracy: False-alert rate.</a:t>
            </a:r>
            <a:endPar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endParaRPr>
          </a:p>
          <a:p>
            <a:pPr marL="0" algn="l">
              <a:spcAft>
                <a:spcPts val="300"/>
              </a:spcAft>
              <a:buClrTx/>
              <a:buSzTx/>
              <a:buFontTx/>
              <a:buNone/>
            </a:pPr>
            <a:r>
              <a:rPr lang="en-US" sz="1250" b="1" dirty="0">
                <a:solidFill>
                  <a:srgbClr val="334155"/>
                </a:solidFill>
                <a:latin typeface="Arial Bold" panose="020B0704020202020204" charset="0"/>
                <a:ea typeface="Arial" panose="020B0704020202020204" pitchFamily="34" charset="-122"/>
                <a:cs typeface="Arial Bold" panose="020B0704020202020204" charset="0"/>
              </a:rPr>
              <a:t>Metric 4</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  Adoption: Proportion of alerts reviewed and acted on by district health teams.</a:t>
            </a:r>
            <a:endPar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endParaRPr>
          </a:p>
          <a:p>
            <a:pPr marL="0" algn="l">
              <a:spcAft>
                <a:spcPts val="300"/>
              </a:spcAft>
              <a:buClrTx/>
              <a:buSzTx/>
              <a:buFontTx/>
              <a:buNone/>
            </a:pPr>
            <a:r>
              <a:rPr lang="en-US" sz="1250" b="1" dirty="0">
                <a:solidFill>
                  <a:srgbClr val="334155"/>
                </a:solidFill>
                <a:latin typeface="Arial Bold" panose="020B0704020202020204" charset="0"/>
                <a:ea typeface="Arial" panose="020B0704020202020204" pitchFamily="34" charset="-122"/>
                <a:cs typeface="Arial Bold" panose="020B0704020202020204" charset="0"/>
              </a:rPr>
              <a:t>Metric 5 </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Response time: Time from alert to investigation/action..</a:t>
            </a:r>
            <a:endPar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endParaRPr>
          </a:p>
        </p:txBody>
      </p:sp>
      <p:sp>
        <p:nvSpPr>
          <p:cNvPr id="13" name="Shape 11"/>
          <p:cNvSpPr/>
          <p:nvPr/>
        </p:nvSpPr>
        <p:spPr>
          <a:xfrm>
            <a:off x="8046854" y="1465348"/>
            <a:ext cx="3391234" cy="4856582"/>
          </a:xfrm>
          <a:prstGeom prst="roundRect">
            <a:avLst>
              <a:gd name="adj" fmla="val 14830"/>
            </a:avLst>
          </a:prstGeom>
          <a:solidFill>
            <a:srgbClr val="FFFFFF"/>
          </a:solidFill>
          <a:ln w="15875">
            <a:solidFill>
              <a:srgbClr val="CBD5E1"/>
            </a:solidFill>
            <a:prstDash val="solid"/>
          </a:ln>
          <a:effectLst>
            <a:outerShdw blurRad="50800" dist="25400" dir="5400000" algn="bl" rotWithShape="0">
              <a:srgbClr val="94A3B8">
                <a:alpha val="45000"/>
              </a:srgbClr>
            </a:outerShdw>
          </a:effectLst>
        </p:spPr>
      </p:sp>
      <p:sp>
        <p:nvSpPr>
          <p:cNvPr id="14" name="Shape 12"/>
          <p:cNvSpPr/>
          <p:nvPr/>
        </p:nvSpPr>
        <p:spPr>
          <a:xfrm>
            <a:off x="8046854" y="1465348"/>
            <a:ext cx="3391234" cy="393551"/>
          </a:xfrm>
          <a:prstGeom prst="roundRect">
            <a:avLst>
              <a:gd name="adj" fmla="val 16264"/>
            </a:avLst>
          </a:prstGeom>
          <a:solidFill>
            <a:srgbClr val="DC2626"/>
          </a:solidFill>
          <a:ln w="12700">
            <a:solidFill>
              <a:srgbClr val="DC2626"/>
            </a:solidFill>
            <a:prstDash val="solid"/>
          </a:ln>
        </p:spPr>
      </p:sp>
      <p:sp>
        <p:nvSpPr>
          <p:cNvPr id="15" name="Text 13"/>
          <p:cNvSpPr txBox="1"/>
          <p:nvPr/>
        </p:nvSpPr>
        <p:spPr>
          <a:xfrm>
            <a:off x="8046854" y="1465348"/>
            <a:ext cx="3391234" cy="393551"/>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704020202020204" pitchFamily="34" charset="0"/>
                <a:ea typeface="Arial" panose="020B0704020202020204" pitchFamily="34" charset="-122"/>
                <a:cs typeface="Arial" panose="020B0704020202020204" pitchFamily="34" charset="-120"/>
              </a:rPr>
              <a:t>3. DEFINITION OF FAILURE</a:t>
            </a:r>
            <a:endParaRPr lang="en-US" sz="1300" dirty="0"/>
          </a:p>
        </p:txBody>
      </p:sp>
      <p:sp>
        <p:nvSpPr>
          <p:cNvPr id="16" name="Text 14"/>
          <p:cNvSpPr txBox="1"/>
          <p:nvPr/>
        </p:nvSpPr>
        <p:spPr>
          <a:xfrm>
            <a:off x="8202302" y="1968627"/>
            <a:ext cx="3080338" cy="3960111"/>
          </a:xfrm>
          <a:prstGeom prst="rect">
            <a:avLst/>
          </a:prstGeom>
          <a:noFill/>
        </p:spPr>
        <p:txBody>
          <a:bodyPr wrap="square" lIns="0" tIns="0" rIns="0" bIns="0" rtlCol="0" anchor="t"/>
          <a:lstStyle/>
          <a:p>
            <a:pPr marL="0" indent="0">
              <a:spcAft>
                <a:spcPts val="300"/>
              </a:spcAft>
              <a:buNone/>
            </a:pPr>
            <a:r>
              <a:rPr lang="en-US" sz="1250" b="1" dirty="0">
                <a:solidFill>
                  <a:srgbClr val="0F172A"/>
                </a:solidFill>
                <a:latin typeface="Arial" panose="020B0704020202020204" pitchFamily="34" charset="0"/>
                <a:ea typeface="Arial" panose="020B0704020202020204" pitchFamily="34" charset="-122"/>
                <a:cs typeface="Arial" panose="020B0704020202020204" pitchFamily="34" charset="-120"/>
              </a:rPr>
              <a:t>Failure Boundary 1: </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Alerts are too frequent or inaccurate to support decision-making.</a:t>
            </a:r>
            <a:endParaRPr lang="en-US" sz="1250" dirty="0"/>
          </a:p>
          <a:p>
            <a:pPr marL="0" indent="0">
              <a:spcAft>
                <a:spcPts val="300"/>
              </a:spcAft>
              <a:buNone/>
            </a:pPr>
            <a:r>
              <a:rPr lang="en-US" sz="1250" b="1" dirty="0">
                <a:solidFill>
                  <a:srgbClr val="0F172A"/>
                </a:solidFill>
                <a:latin typeface="Arial" panose="020B0704020202020204" pitchFamily="34" charset="0"/>
                <a:ea typeface="Arial" panose="020B0704020202020204" pitchFamily="34" charset="-122"/>
                <a:cs typeface="Arial" panose="020B0704020202020204" pitchFamily="34" charset="-120"/>
              </a:rPr>
              <a:t>Failure Boundary 2: </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Abnormal patterns are still detected only after cases have significantly increased.</a:t>
            </a:r>
            <a:endParaRPr lang="en-US" sz="1250" dirty="0"/>
          </a:p>
          <a:p>
            <a:pPr marL="0" indent="0">
              <a:spcAft>
                <a:spcPts val="300"/>
              </a:spcAft>
              <a:buNone/>
            </a:pPr>
            <a:r>
              <a:rPr lang="en-US" sz="1250" b="1" dirty="0">
                <a:solidFill>
                  <a:srgbClr val="0F172A"/>
                </a:solidFill>
                <a:latin typeface="Arial" panose="020B0704020202020204" pitchFamily="34" charset="0"/>
                <a:ea typeface="Arial" panose="020B0704020202020204" pitchFamily="34" charset="-122"/>
                <a:cs typeface="Arial" panose="020B0704020202020204" pitchFamily="34" charset="-120"/>
              </a:rPr>
              <a:t>Failure Boundary 3: </a:t>
            </a:r>
            <a:r>
              <a:rPr lang="en-US" sz="1250" dirty="0">
                <a:solidFill>
                  <a:srgbClr val="334155"/>
                </a:solidFill>
                <a:latin typeface="Arial" panose="020B0704020202020204" pitchFamily="34" charset="0"/>
                <a:ea typeface="Arial" panose="020B0704020202020204" pitchFamily="34" charset="-122"/>
                <a:cs typeface="Arial" panose="020B0704020202020204" pitchFamily="34" charset="-120"/>
              </a:rPr>
              <a:t>Alerts do not lead to faster investigation or response.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28487" y="318190"/>
            <a:ext cx="7315200" cy="274320"/>
          </a:xfrm>
          <a:prstGeom prst="rect">
            <a:avLst/>
          </a:prstGeom>
          <a:noFill/>
        </p:spPr>
        <p:txBody>
          <a:bodyPr wrap="square" lIns="0" tIns="0" rIns="0" bIns="0" rtlCol="0" anchor="ctr"/>
          <a:lstStyle/>
          <a:p>
            <a:pPr marL="0" indent="0">
              <a:buNone/>
            </a:pPr>
            <a:r>
              <a:rPr lang="en-US" sz="1100" b="1" dirty="0">
                <a:solidFill>
                  <a:srgbClr val="2563EB"/>
                </a:solidFill>
                <a:latin typeface="Arial" panose="020B0704020202020204" pitchFamily="34" charset="0"/>
                <a:ea typeface="Arial" panose="020B0704020202020204" pitchFamily="34" charset="-122"/>
                <a:cs typeface="Arial" panose="020B0704020202020204" pitchFamily="34" charset="-120"/>
              </a:rPr>
              <a:t>PROBLEM FRAMING CANVAS • DAY 1</a:t>
            </a:r>
            <a:endParaRPr lang="en-US" sz="1100" dirty="0"/>
          </a:p>
        </p:txBody>
      </p:sp>
      <p:sp>
        <p:nvSpPr>
          <p:cNvPr id="3" name="Text 1"/>
          <p:cNvSpPr txBox="1"/>
          <p:nvPr/>
        </p:nvSpPr>
        <p:spPr>
          <a:xfrm>
            <a:off x="728487" y="602886"/>
            <a:ext cx="10734721" cy="502920"/>
          </a:xfrm>
          <a:prstGeom prst="rect">
            <a:avLst/>
          </a:prstGeom>
          <a:noFill/>
        </p:spPr>
        <p:txBody>
          <a:bodyPr wrap="square" lIns="0" tIns="0" rIns="0" bIns="0" rtlCol="0" anchor="ctr"/>
          <a:lstStyle/>
          <a:p>
            <a:pPr marL="0" indent="0">
              <a:buNone/>
            </a:pPr>
            <a:r>
              <a:rPr lang="en-US" sz="2200" b="1" dirty="0">
                <a:solidFill>
                  <a:srgbClr val="0F172A"/>
                </a:solidFill>
                <a:latin typeface="Georgia" panose="02040502050405090303" pitchFamily="34" charset="0"/>
                <a:ea typeface="Georgia" panose="02040502050405090303" pitchFamily="34" charset="-122"/>
                <a:cs typeface="Georgia" panose="02040502050405090303" pitchFamily="34" charset="-120"/>
              </a:rPr>
              <a:t>A3. Validated Problem Statement Canvas</a:t>
            </a:r>
            <a:endParaRPr lang="en-US" sz="2200" dirty="0"/>
          </a:p>
        </p:txBody>
      </p:sp>
      <p:sp>
        <p:nvSpPr>
          <p:cNvPr id="4" name="Shape 2"/>
          <p:cNvSpPr/>
          <p:nvPr/>
        </p:nvSpPr>
        <p:spPr>
          <a:xfrm>
            <a:off x="728487" y="1230892"/>
            <a:ext cx="10734721" cy="41148"/>
          </a:xfrm>
          <a:prstGeom prst="rect">
            <a:avLst/>
          </a:prstGeom>
          <a:solidFill>
            <a:srgbClr val="CBD5E1"/>
          </a:solidFill>
          <a:ln w="12700">
            <a:solidFill>
              <a:srgbClr val="CBD5E1"/>
            </a:solidFill>
            <a:prstDash val="solid"/>
          </a:ln>
        </p:spPr>
      </p:sp>
      <p:sp>
        <p:nvSpPr>
          <p:cNvPr id="5" name="Shape 3"/>
          <p:cNvSpPr/>
          <p:nvPr/>
        </p:nvSpPr>
        <p:spPr>
          <a:xfrm>
            <a:off x="728487" y="1465348"/>
            <a:ext cx="10734721" cy="1649563"/>
          </a:xfrm>
          <a:prstGeom prst="roundRect">
            <a:avLst>
              <a:gd name="adj" fmla="val 16630"/>
            </a:avLst>
          </a:prstGeom>
          <a:solidFill>
            <a:srgbClr val="EFF6FF"/>
          </a:solidFill>
          <a:ln w="15875">
            <a:solidFill>
              <a:srgbClr val="2563EB"/>
            </a:solidFill>
            <a:prstDash val="solid"/>
          </a:ln>
          <a:effectLst>
            <a:outerShdw blurRad="50800" dist="25400" dir="5400000" algn="bl" rotWithShape="0">
              <a:srgbClr val="94A3B8">
                <a:alpha val="45000"/>
              </a:srgbClr>
            </a:outerShdw>
          </a:effectLst>
        </p:spPr>
      </p:sp>
      <p:sp>
        <p:nvSpPr>
          <p:cNvPr id="6" name="Text 4"/>
          <p:cNvSpPr txBox="1"/>
          <p:nvPr/>
        </p:nvSpPr>
        <p:spPr>
          <a:xfrm>
            <a:off x="728487" y="1951006"/>
            <a:ext cx="10734721" cy="228600"/>
          </a:xfrm>
          <a:prstGeom prst="rect">
            <a:avLst/>
          </a:prstGeom>
          <a:noFill/>
        </p:spPr>
        <p:txBody>
          <a:bodyPr wrap="square" lIns="0" tIns="0" rIns="0" bIns="0" rtlCol="0" anchor="ctr"/>
          <a:lstStyle/>
          <a:p>
            <a:pPr marL="0" indent="0" algn="ctr">
              <a:buNone/>
            </a:pPr>
            <a:r>
              <a:rPr lang="en-US" sz="1100" b="1" dirty="0">
                <a:solidFill>
                  <a:srgbClr val="2563EB"/>
                </a:solidFill>
                <a:latin typeface="Arial" panose="020B0704020202020204" pitchFamily="34" charset="0"/>
                <a:ea typeface="Arial" panose="020B0704020202020204" pitchFamily="34" charset="-122"/>
                <a:cs typeface="Arial" panose="020B0704020202020204" pitchFamily="34" charset="-120"/>
              </a:rPr>
              <a:t>SUGGESTED PROBLEM STATEMENT STRUCTURE (GUIDED FORMULA)</a:t>
            </a:r>
            <a:endParaRPr lang="en-US" sz="1100" dirty="0"/>
          </a:p>
        </p:txBody>
      </p:sp>
      <p:sp>
        <p:nvSpPr>
          <p:cNvPr id="7" name="Text 5"/>
          <p:cNvSpPr txBox="1"/>
          <p:nvPr/>
        </p:nvSpPr>
        <p:spPr>
          <a:xfrm>
            <a:off x="1046677" y="2193835"/>
            <a:ext cx="10048100" cy="548640"/>
          </a:xfrm>
          <a:prstGeom prst="rect">
            <a:avLst/>
          </a:prstGeom>
          <a:noFill/>
        </p:spPr>
        <p:txBody>
          <a:bodyPr wrap="square" lIns="0" tIns="0" rIns="0" bIns="0" rtlCol="0" anchor="t"/>
          <a:lstStyle/>
          <a:p>
            <a:pPr marL="0" indent="0">
              <a:buNone/>
            </a:pPr>
            <a:r>
              <a:rPr lang="en-US" sz="1700" b="1" dirty="0">
                <a:solidFill>
                  <a:srgbClr val="0F172A"/>
                </a:solidFill>
                <a:latin typeface="Georgia" panose="02040502050405090303" pitchFamily="34" charset="0"/>
                <a:ea typeface="Georgia" panose="02040502050405090303" pitchFamily="34" charset="-122"/>
                <a:cs typeface="Georgia" panose="02040502050405090303" pitchFamily="34" charset="-120"/>
              </a:rPr>
              <a:t>" For [primary user], [current situation/process] causes [specific problem], resulting in [measurable impact]. Success means [measurable change]. "</a:t>
            </a:r>
            <a:endParaRPr lang="en-US" sz="1700" dirty="0"/>
          </a:p>
        </p:txBody>
      </p:sp>
      <p:sp>
        <p:nvSpPr>
          <p:cNvPr id="8" name="Shape 6"/>
          <p:cNvSpPr/>
          <p:nvPr/>
        </p:nvSpPr>
        <p:spPr>
          <a:xfrm>
            <a:off x="728487" y="3290753"/>
            <a:ext cx="10734721" cy="3014430"/>
          </a:xfrm>
          <a:prstGeom prst="roundRect">
            <a:avLst>
              <a:gd name="adj" fmla="val 13650"/>
            </a:avLst>
          </a:prstGeom>
          <a:solidFill>
            <a:srgbClr val="FFFFFF"/>
          </a:solidFill>
          <a:ln w="28575">
            <a:solidFill>
              <a:srgbClr val="D97706"/>
            </a:solidFill>
            <a:prstDash val="solid"/>
          </a:ln>
          <a:effectLst>
            <a:outerShdw blurRad="50800" dist="25400" dir="5400000" algn="bl" rotWithShape="0">
              <a:srgbClr val="94A3B8">
                <a:alpha val="45000"/>
              </a:srgbClr>
            </a:outerShdw>
          </a:effectLst>
        </p:spPr>
      </p:sp>
      <p:sp>
        <p:nvSpPr>
          <p:cNvPr id="9" name="Shape 7"/>
          <p:cNvSpPr/>
          <p:nvPr/>
        </p:nvSpPr>
        <p:spPr>
          <a:xfrm>
            <a:off x="728487" y="3290753"/>
            <a:ext cx="10734721" cy="452165"/>
          </a:xfrm>
          <a:prstGeom prst="roundRect">
            <a:avLst>
              <a:gd name="adj" fmla="val 14156"/>
            </a:avLst>
          </a:prstGeom>
          <a:solidFill>
            <a:srgbClr val="D97706"/>
          </a:solidFill>
          <a:ln w="12700">
            <a:solidFill>
              <a:srgbClr val="D97706"/>
            </a:solidFill>
            <a:prstDash val="solid"/>
          </a:ln>
        </p:spPr>
      </p:sp>
      <p:sp>
        <p:nvSpPr>
          <p:cNvPr id="10" name="Text 8"/>
          <p:cNvSpPr txBox="1"/>
          <p:nvPr/>
        </p:nvSpPr>
        <p:spPr>
          <a:xfrm>
            <a:off x="728487" y="3290753"/>
            <a:ext cx="10734721" cy="452165"/>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FINAL VALIDATED PROBLEM STATEMENT (FINAL SYNTHESIS FOR INCUBATION HANDOFF)</a:t>
            </a:r>
            <a:endParaRPr lang="en-US" sz="1200" dirty="0"/>
          </a:p>
        </p:txBody>
      </p:sp>
      <p:sp>
        <p:nvSpPr>
          <p:cNvPr id="11" name="Text 9"/>
          <p:cNvSpPr txBox="1"/>
          <p:nvPr/>
        </p:nvSpPr>
        <p:spPr>
          <a:xfrm>
            <a:off x="1004810" y="3935506"/>
            <a:ext cx="10173702" cy="1737360"/>
          </a:xfrm>
          <a:prstGeom prst="rect">
            <a:avLst/>
          </a:prstGeom>
          <a:noFill/>
        </p:spPr>
        <p:txBody>
          <a:bodyPr wrap="square" lIns="0" tIns="0" rIns="0" bIns="0" rtlCol="0" anchor="t"/>
          <a:lstStyle/>
          <a:p>
            <a:pPr marL="0" indent="0">
              <a:lnSpc>
                <a:spcPct val="110000"/>
              </a:lnSpc>
              <a:buNone/>
            </a:pPr>
            <a:r>
              <a:rPr lang="en-US" sz="1600" b="1" dirty="0">
                <a:solidFill>
                  <a:srgbClr val="334155"/>
                </a:solidFill>
                <a:latin typeface="Arial" panose="020B0704020202020204" pitchFamily="34" charset="0"/>
                <a:ea typeface="Arial" panose="020B0704020202020204" pitchFamily="34" charset="-122"/>
                <a:cs typeface="Arial" panose="020B0704020202020204" pitchFamily="34" charset="-120"/>
              </a:rPr>
              <a:t>For malaria surveillance and response teams in the two pilot districts, malaria monitoring relies on reviewing routinely reported case trends, </a:t>
            </a:r>
            <a:r>
              <a:rPr lang="en-US" altLang="en-US" sz="1600" b="1" dirty="0">
                <a:solidFill>
                  <a:srgbClr val="334155"/>
                </a:solidFill>
                <a:latin typeface="Arial" panose="020B0704020202020204" pitchFamily="34" charset="0"/>
                <a:ea typeface="Arial" panose="020B0704020202020204" pitchFamily="34" charset="-122"/>
                <a:cs typeface="Arial" panose="020B0704020202020204" pitchFamily="34" charset="-120"/>
              </a:rPr>
              <a:t>which can delay recognition of abnormal increases</a:t>
            </a:r>
            <a:r>
              <a:rPr lang="en-US" sz="1600" b="1" dirty="0">
                <a:solidFill>
                  <a:srgbClr val="334155"/>
                </a:solidFill>
                <a:latin typeface="Arial" panose="020B0704020202020204" pitchFamily="34" charset="0"/>
                <a:ea typeface="Arial" panose="020B0704020202020204" pitchFamily="34" charset="-122"/>
                <a:cs typeface="Arial" panose="020B0704020202020204" pitchFamily="34" charset="-120"/>
              </a:rPr>
              <a:t>. A rise in malaria may only become clear once cases are already going up, leaving less time to investigate and respond. Success means detecting abnormal patterns earlier and giving health teams enough lead time to investigate and act before cases escalate.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6533</Words>
  <Application>WPS Sheets</Application>
  <PresentationFormat>On-screen Show (16:9)</PresentationFormat>
  <Paragraphs>141</Paragraphs>
  <Slides>6</Slides>
  <Notes>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vt:i4>
      </vt:variant>
    </vt:vector>
  </HeadingPairs>
  <TitlesOfParts>
    <vt:vector size="23" baseType="lpstr">
      <vt:lpstr>Arial</vt:lpstr>
      <vt:lpstr>SimSun</vt:lpstr>
      <vt:lpstr>Wingdings</vt:lpstr>
      <vt:lpstr>Arial</vt:lpstr>
      <vt:lpstr>Arial</vt:lpstr>
      <vt:lpstr>Georgia</vt:lpstr>
      <vt:lpstr>Georgia</vt:lpstr>
      <vt:lpstr>Georgia</vt:lpstr>
      <vt:lpstr>Calibri</vt:lpstr>
      <vt:lpstr>Helvetica Neue</vt:lpstr>
      <vt:lpstr>Microsoft YaHei</vt:lpstr>
      <vt:lpstr>汉仪旗黑</vt:lpstr>
      <vt:lpstr>Arial Unicode MS</vt:lpstr>
      <vt:lpstr>宋体-简</vt:lpstr>
      <vt:lpstr>Arial Bold Italic</vt:lpstr>
      <vt:lpstr>Arial Bold</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WPS_1783673366</cp:lastModifiedBy>
  <cp:revision>5</cp:revision>
  <dcterms:created xsi:type="dcterms:W3CDTF">2026-09-29T15:33:21Z</dcterms:created>
  <dcterms:modified xsi:type="dcterms:W3CDTF">2026-09-29T15:33:21Z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91FFEB38EC687A7338D6BB6ADBCB4645_43</vt:lpwstr>
  </property>
  <property fmtid="{D5CDD505-2E9C-101B-9397-08002B2CF9AE}" pid="3" name="KSOProductBuildVer">
    <vt:lpwstr>1033-12.1.28492.28492</vt:lpwstr>
  </property>
</Properties>
</file>