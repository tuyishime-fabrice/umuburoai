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2" roundtripDataSignature="AMtx7mgO6zOhCbk1Ow9ZxokXwKME+jNY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731520" y="548640"/>
            <a:ext cx="10728655" cy="164592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365750" spcFirstLastPara="1" rIns="91425" wrap="square" tIns="274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PROBLEM FRAMING CANVAS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Challenge Validation &amp; Framing Template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Turn a validated challenge into a precise, evidence-based problem statement before solution design begins.</a:t>
            </a:r>
            <a:endParaRPr/>
          </a:p>
        </p:txBody>
      </p:sp>
      <p:sp>
        <p:nvSpPr>
          <p:cNvPr id="85" name="Google Shape;85;p1"/>
          <p:cNvSpPr/>
          <p:nvPr/>
        </p:nvSpPr>
        <p:spPr>
          <a:xfrm>
            <a:off x="731520" y="2468880"/>
            <a:ext cx="3383280" cy="777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82875" spcFirstLastPara="1" rIns="182875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TEAM NAME / ID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[Enter Team Name or ID here]</a:t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>
            <a:off x="4389120" y="2468880"/>
            <a:ext cx="3383280" cy="777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82875" spcFirstLastPara="1" rIns="182875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CHALLENGE TITLE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[Enter Challenge Title here]</a:t>
            </a:r>
            <a:endParaRPr/>
          </a:p>
        </p:txBody>
      </p:sp>
      <p:sp>
        <p:nvSpPr>
          <p:cNvPr id="87" name="Google Shape;87;p1"/>
          <p:cNvSpPr/>
          <p:nvPr/>
        </p:nvSpPr>
        <p:spPr>
          <a:xfrm>
            <a:off x="8046720" y="2468880"/>
            <a:ext cx="3383280" cy="777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82875" spcFirstLastPara="1" rIns="182875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CHALLENGE-OWNING INSTITUTION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[Enter Institution Name here]</a:t>
            </a:r>
            <a:endParaRPr/>
          </a:p>
        </p:txBody>
      </p:sp>
      <p:sp>
        <p:nvSpPr>
          <p:cNvPr id="88" name="Google Shape;88;p1"/>
          <p:cNvSpPr/>
          <p:nvPr/>
        </p:nvSpPr>
        <p:spPr>
          <a:xfrm>
            <a:off x="731520" y="3520440"/>
            <a:ext cx="5212080" cy="777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82875" spcFirstLastPara="1" rIns="182875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INSTITUTIONAL FOCAL PERSON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[Enter Focal Person Name &amp; Title here]</a:t>
            </a:r>
            <a:endParaRPr/>
          </a:p>
        </p:txBody>
      </p:sp>
      <p:sp>
        <p:nvSpPr>
          <p:cNvPr id="89" name="Google Shape;89;p1"/>
          <p:cNvSpPr/>
          <p:nvPr/>
        </p:nvSpPr>
        <p:spPr>
          <a:xfrm>
            <a:off x="6248095" y="3520440"/>
            <a:ext cx="5212080" cy="777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82875" spcFirstLastPara="1" rIns="182875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DATE &amp; LOCATION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[Enter Date / Event Location here]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731520" y="4754880"/>
            <a:ext cx="10728655" cy="146304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74300" spcFirstLastPara="1" rIns="274300" wrap="square" tIns="164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WORKSHOP INSTRUCTIONS FOR PARTICIPANTS &amp; CHALLENGE OWNERS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1. Work through Sections A1 to A3 collaboratively during Day 1 Problem Validation.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2. Ensure all claims are backed by concrete observations, data, or user interviews (retained as evidence trail).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3. Synthesize your findings into Slide 6 (Validated Problem Statement) for incubation handoff.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PROBLEM FRAMING CANVAS • DAY 1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A1. Problem Definition — Users, Process &amp; Pain Points</a:t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731520" y="1234440"/>
            <a:ext cx="10728655" cy="25400"/>
          </a:xfrm>
          <a:prstGeom prst="rect">
            <a:avLst/>
          </a:prstGeom>
          <a:solidFill>
            <a:srgbClr val="CBD5E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731520" y="1463040"/>
            <a:ext cx="3383280" cy="4846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731520" y="1463040"/>
            <a:ext cx="3383280" cy="411480"/>
          </a:xfrm>
          <a:prstGeom prst="roundRect">
            <a:avLst>
              <a:gd fmla="val 16667" name="adj"/>
            </a:avLst>
          </a:prstGeom>
          <a:solidFill>
            <a:srgbClr val="0F17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PRIMARY USER(S)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868680" y="1965960"/>
            <a:ext cx="310896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Guidance: Who experiences the problem directly?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Specific user group(s) / demographic: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[e.g., Smallholder farmers seeking water permits]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Key characteristics &amp; context: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[e.g., Rural context, low digital literacy]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Role in the process: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[e.g., Submits initial paper applications at district office]</a:t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4389120" y="1463040"/>
            <a:ext cx="3383280" cy="4846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4389120" y="1463040"/>
            <a:ext cx="3383280" cy="411480"/>
          </a:xfrm>
          <a:prstGeom prst="roundRect">
            <a:avLst>
              <a:gd fmla="val 16667" name="adj"/>
            </a:avLst>
          </a:prstGeom>
          <a:solidFill>
            <a:srgbClr val="0F17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CURRENT SITUATION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4526280" y="1965960"/>
            <a:ext cx="310896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Guidance: What happens in the process today?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Step-by-step workflow today: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1. [Step 1: User submits physical form]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2. [Step 2: Manual review by officer]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3. [Step 3: Multi-agency approval chain]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Frequency &amp; volume: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[e.g., ~500 applications per month per district]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Key actors involved: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[e.g., User, Front-desk clerk, District Inspector]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8046720" y="1463040"/>
            <a:ext cx="3383280" cy="4846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8046720" y="1463040"/>
            <a:ext cx="3383280" cy="411480"/>
          </a:xfrm>
          <a:prstGeom prst="roundRect">
            <a:avLst>
              <a:gd fmla="val 16667" name="adj"/>
            </a:avLst>
          </a:prstGeom>
          <a:solidFill>
            <a:srgbClr val="D9770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PAIN POINTS &amp; BOTTLENECKS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8183880" y="1965960"/>
            <a:ext cx="310896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Guidance: Where does the process fail, delay, cost, exclude, or create risk?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Major failure point / bottleneck: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[e.g., 60-day backlog during manual verification]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Impact on user: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[e.g., Lost income, high travel costs to district capital]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Impact on institution: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[e.g., High processing costs, administrative overburden]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PROBLEM FRAMING CANVAS • DAY 1</a:t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A1. Problem Definition — Evidence, Root Causes &amp; Prior Attempts</a:t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731520" y="1234440"/>
            <a:ext cx="10728655" cy="25400"/>
          </a:xfrm>
          <a:prstGeom prst="rect">
            <a:avLst/>
          </a:prstGeom>
          <a:solidFill>
            <a:srgbClr val="CBD5E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731520" y="1463040"/>
            <a:ext cx="3383280" cy="4846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731520" y="1463040"/>
            <a:ext cx="3383280" cy="411480"/>
          </a:xfrm>
          <a:prstGeom prst="roundRect">
            <a:avLst>
              <a:gd fmla="val 16667" name="adj"/>
            </a:avLst>
          </a:prstGeom>
          <a:solidFill>
            <a:srgbClr val="0F17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 EVIDENCE &amp; DATA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868680" y="1965960"/>
            <a:ext cx="310896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Guidance: What data, observations, records, or feedback prove the problem is real?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Quantitative evidence: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[e.g., 42% rejection rate due to missing attachments]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[e.g., Average processing time is 75 days vs 14-day target]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Qualitative feedback &amp; records: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[e.g., Audit reports cite incomplete paper files]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[e.g., User surveys show 80% dissatisfaction]</a:t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4389120" y="1463040"/>
            <a:ext cx="3383280" cy="4846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4389120" y="1463040"/>
            <a:ext cx="3383280" cy="411480"/>
          </a:xfrm>
          <a:prstGeom prst="roundRect">
            <a:avLst>
              <a:gd fmla="val 16667" name="adj"/>
            </a:avLst>
          </a:prstGeom>
          <a:solidFill>
            <a:srgbClr val="D9770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5. ROOT CAUSES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4526280" y="1965960"/>
            <a:ext cx="310896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Guidance: What factors cause or sustain the problem? (Ask 'Why?' 5 times)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Underlying systemic cause 1: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[e.g., Outdated legal framework requiring physical stamps]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Underlying cause 2: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[e.g., Lack of interoperable database across agencies]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Underlying cause 3: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[e.g., Inadequate staffing during peak seasons]</a:t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8046720" y="1463040"/>
            <a:ext cx="3383280" cy="4846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8046720" y="1463040"/>
            <a:ext cx="3383280" cy="411480"/>
          </a:xfrm>
          <a:prstGeom prst="roundRect">
            <a:avLst>
              <a:gd fmla="val 16667" name="adj"/>
            </a:avLst>
          </a:prstGeom>
          <a:solidFill>
            <a:srgbClr val="0F17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6. WHAT HAS ALREADY BEEN TRIED?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8183880" y="1965960"/>
            <a:ext cx="310896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Guidance: What previous solutions were attempted, and why did they fail?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Previous initiative 1: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[e.g., 2021 PDF form upload portal]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→ Why it failed: [Users lacked internet/PCs; forms still needed manual printing]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Previous initiative 2: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[e.g., SMS tracking trial]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→ Why it failed: [Database wasn't updated in real time]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PROBLEM FRAMING CANVAS • DAY 1</a:t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731520" y="640080"/>
            <a:ext cx="1069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A1. Problem Definition — Boundary Constraints &amp;</a:t>
            </a:r>
            <a:r>
              <a:rPr b="1" lang="en-US" sz="2400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i="0" lang="en-US" sz="24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Assumptions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731520" y="1234440"/>
            <a:ext cx="10728655" cy="25400"/>
          </a:xfrm>
          <a:prstGeom prst="rect">
            <a:avLst/>
          </a:prstGeom>
          <a:solidFill>
            <a:srgbClr val="CBD5E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731520" y="1463040"/>
            <a:ext cx="5212080" cy="4846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731520" y="1463040"/>
            <a:ext cx="5212080" cy="411480"/>
          </a:xfrm>
          <a:prstGeom prst="roundRect">
            <a:avLst>
              <a:gd fmla="val 16667" name="adj"/>
            </a:avLst>
          </a:prstGeom>
          <a:solidFill>
            <a:srgbClr val="0F17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7. OPERATIONAL &amp; SYSTEMIC CONSTRAINTS</a:t>
            </a:r>
            <a:endParaRPr/>
          </a:p>
        </p:txBody>
      </p:sp>
      <p:sp>
        <p:nvSpPr>
          <p:cNvPr id="132" name="Google Shape;132;p4"/>
          <p:cNvSpPr txBox="1"/>
          <p:nvPr/>
        </p:nvSpPr>
        <p:spPr>
          <a:xfrm>
            <a:off x="868680" y="1965960"/>
            <a:ext cx="493776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Guidance: Policy, legal, operational, data, infrastructure, budget, language, or time limits.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Policy &amp; Legal Constraints: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[e.g., Statutory requirement for wet-ink signature under Act 12/2018]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Technical &amp; Infrastructure Constraints: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[e.g., Intermittent connectivity in rural offices; legacy mainframe]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Financial &amp; Operational Limits: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[e.g., Zero additional headcount; maximum $50k rollout budget]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User &amp; Language Constraints: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[e.g., Must support 3 local languages + offline usability]</a:t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6248095" y="1463040"/>
            <a:ext cx="5212080" cy="4846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6248095" y="1463040"/>
            <a:ext cx="5212080" cy="411480"/>
          </a:xfrm>
          <a:prstGeom prst="roundRect">
            <a:avLst>
              <a:gd fmla="val 16667" name="adj"/>
            </a:avLst>
          </a:prstGeom>
          <a:solidFill>
            <a:srgbClr val="D9770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8. UNVALIDATED ASSUMPTIONS</a:t>
            </a:r>
            <a:endParaRPr/>
          </a:p>
        </p:txBody>
      </p:sp>
      <p:sp>
        <p:nvSpPr>
          <p:cNvPr id="135" name="Google Shape;135;p4"/>
          <p:cNvSpPr txBox="1"/>
          <p:nvPr/>
        </p:nvSpPr>
        <p:spPr>
          <a:xfrm>
            <a:off x="6385255" y="1965960"/>
            <a:ext cx="493776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Guidance: Critical assumptions that still need validation during Day 1 / Incubation.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User behavior assumption: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[e.g., We assume farmers have access to basic feature phones for USSD]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Institutional capability assumption: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[e.g., We assume field inspectors will adopt digital tablet verification]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Data access assumption: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[e.g., We assume National ID registry API can be queried in real time]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Validation Plan: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[How will the team test these assumptions in Day 1 field checks?]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PROBLEM FRAMING CANVAS • DAY 1</a:t>
            </a:r>
            <a:endParaRPr/>
          </a:p>
        </p:txBody>
      </p:sp>
      <p:sp>
        <p:nvSpPr>
          <p:cNvPr id="141" name="Google Shape;141;p5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A2. Success Definition — Desired Change, Metrics &amp; Failure Boundaries</a:t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731520" y="1234440"/>
            <a:ext cx="10728655" cy="25400"/>
          </a:xfrm>
          <a:prstGeom prst="rect">
            <a:avLst/>
          </a:prstGeom>
          <a:solidFill>
            <a:srgbClr val="CBD5E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731520" y="1463040"/>
            <a:ext cx="3383280" cy="4846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731520" y="1463040"/>
            <a:ext cx="3383280" cy="411480"/>
          </a:xfrm>
          <a:prstGeom prst="roundRect">
            <a:avLst>
              <a:gd fmla="val 16667" name="adj"/>
            </a:avLst>
          </a:prstGeom>
          <a:solidFill>
            <a:srgbClr val="0F17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DESIRED CHANGE</a:t>
            </a:r>
            <a:endParaRPr/>
          </a:p>
        </p:txBody>
      </p:sp>
      <p:sp>
        <p:nvSpPr>
          <p:cNvPr id="145" name="Google Shape;145;p5"/>
          <p:cNvSpPr txBox="1"/>
          <p:nvPr/>
        </p:nvSpPr>
        <p:spPr>
          <a:xfrm>
            <a:off x="868680" y="1965960"/>
            <a:ext cx="310896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Guidance: What should be different for the primary user or institution?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For the Primary User: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[e.g., Instant permit approval without traveling to district office]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For the Institution: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[e.g., Transparent digital processing queue with zero backlogs]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Systemic Impact: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[e.g., 100% compliance with environmental safety standards]</a:t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4389120" y="1463040"/>
            <a:ext cx="3383280" cy="4846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4389120" y="1463040"/>
            <a:ext cx="3383280" cy="41148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MEASURABLE SUCCESS INDICATORS</a:t>
            </a:r>
            <a:endParaRPr/>
          </a:p>
        </p:txBody>
      </p:sp>
      <p:sp>
        <p:nvSpPr>
          <p:cNvPr id="148" name="Google Shape;148;p5"/>
          <p:cNvSpPr txBox="1"/>
          <p:nvPr/>
        </p:nvSpPr>
        <p:spPr>
          <a:xfrm>
            <a:off x="4526280" y="1965960"/>
            <a:ext cx="310896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Guidance: 3 to 5 concrete metrics that will prove success.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Metric 1 (Time Reduction):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[e.g., Reduce processing time from 75 days to under 5 days]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Metric 2 (Cost / Travel Savings):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[e.g., Lower user travel cost per application by 80%]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Metric 3 (Volume / Adoption):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[e.g., Achieve 90% digital adoption within 6 months]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Metric 4 (Data Quality):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[e.g., Reduce form error/rejection rate from 42% to &lt;5%]</a:t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8046720" y="1463040"/>
            <a:ext cx="3383280" cy="4846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8046720" y="1463040"/>
            <a:ext cx="3383280" cy="411480"/>
          </a:xfrm>
          <a:prstGeom prst="roundRect">
            <a:avLst>
              <a:gd fmla="val 16667" name="adj"/>
            </a:avLst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DEFINITION OF FAILURE</a:t>
            </a:r>
            <a:endParaRPr/>
          </a:p>
        </p:txBody>
      </p:sp>
      <p:sp>
        <p:nvSpPr>
          <p:cNvPr id="151" name="Google Shape;151;p5"/>
          <p:cNvSpPr txBox="1"/>
          <p:nvPr/>
        </p:nvSpPr>
        <p:spPr>
          <a:xfrm>
            <a:off x="8183880" y="1965960"/>
            <a:ext cx="310896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Guidance: What would count as failure or no meaningful improvement?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Failure Boundary 1: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[e.g., Solution creates a parallel digital burden without eliminating paper]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Failure Boundary 2: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[e.g., Processing time remains over 30 days]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Failure Boundary 3: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[e.g., Excludes non-tech-savvy users or vulnerable populations]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PROBLEM FRAMING CANVAS • DAY 1</a:t>
            </a:r>
            <a:endParaRPr/>
          </a:p>
        </p:txBody>
      </p:sp>
      <p:sp>
        <p:nvSpPr>
          <p:cNvPr id="157" name="Google Shape;157;p6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A3. Validated Problem Statement Canvas</a:t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731520" y="1234440"/>
            <a:ext cx="10728655" cy="25400"/>
          </a:xfrm>
          <a:prstGeom prst="rect">
            <a:avLst/>
          </a:prstGeom>
          <a:solidFill>
            <a:srgbClr val="CBD5E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731520" y="1463040"/>
            <a:ext cx="10728655" cy="164592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74300" spcFirstLastPara="1" rIns="274300" wrap="square" tIns="164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SUGGESTED PROBLEM STATEMENT STRUCTURE (GUIDED FORMULA)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“ For [primary user], [current situation/process] causes [specific problem], resulting in [measurable impact]. Success means [measurable change]. ”</a:t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731520" y="3291840"/>
            <a:ext cx="10728655" cy="30175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731520" y="3291840"/>
            <a:ext cx="10728655" cy="457200"/>
          </a:xfrm>
          <a:prstGeom prst="roundRect">
            <a:avLst>
              <a:gd fmla="val 16667" name="adj"/>
            </a:avLst>
          </a:prstGeom>
          <a:solidFill>
            <a:srgbClr val="D9770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8287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FINAL VALIDATED PROBLEM STATEMENT (FINAL SYNTHESIS FOR INCUBATION HANDOFF)</a:t>
            </a:r>
            <a:endParaRPr/>
          </a:p>
        </p:txBody>
      </p:sp>
      <p:sp>
        <p:nvSpPr>
          <p:cNvPr id="162" name="Google Shape;162;p6"/>
          <p:cNvSpPr txBox="1"/>
          <p:nvPr/>
        </p:nvSpPr>
        <p:spPr>
          <a:xfrm>
            <a:off x="914400" y="3886200"/>
            <a:ext cx="10362895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[TYPE YOUR FINAL SYNTHESIZED PROBLEM STATEMENT HERE]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br>
              <a:rPr b="0" i="1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br>
              <a:rPr b="0" i="1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"For smallholder farmers in District X, the manual paper permit application process causes a 75-day backlog, resulting in lost seasonal crop yield and $120 in unnecessary travel expenses per applicant. Success means reducing permit decision turnaround to under 5 days via local digital submission with zero required travel."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